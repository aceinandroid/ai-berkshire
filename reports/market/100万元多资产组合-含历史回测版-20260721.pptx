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598215512420c" /><Relationship Type="http://schemas.openxmlformats.org/officeDocument/2006/relationships/extended-properties" Target="/docProps/app.xml" Id="Ra08781cf88a04da6" /><Relationship Type="http://schemas.openxmlformats.org/officeDocument/2006/relationships/officeDocument" Target="/ppt/presentation.xml" Id="R8781853998fc4e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c0b31d8d0483f"/>
  </p:sldMasterIdLst>
  <p:notesMasterIdLst>
    <p:notesMasterId xmlns:r="http://schemas.openxmlformats.org/officeDocument/2006/relationships" r:id="R4418d804b8f24216"/>
  </p:notesMasterIdLst>
  <p:sldIdLst>
    <p:sldId xmlns:r="http://schemas.openxmlformats.org/officeDocument/2006/relationships" id="256" r:id="Rf866a2933ff84af0"/>
    <p:sldId xmlns:r="http://schemas.openxmlformats.org/officeDocument/2006/relationships" id="257" r:id="Rd216f2030a7547aa"/>
    <p:sldId xmlns:r="http://schemas.openxmlformats.org/officeDocument/2006/relationships" id="258" r:id="Raed8ca25b32340f7"/>
    <p:sldId xmlns:r="http://schemas.openxmlformats.org/officeDocument/2006/relationships" id="259" r:id="Rc47872cfbfcc4ee7"/>
    <p:sldId xmlns:r="http://schemas.openxmlformats.org/officeDocument/2006/relationships" id="260" r:id="Ra4d2c97c5c734ad5"/>
    <p:sldId xmlns:r="http://schemas.openxmlformats.org/officeDocument/2006/relationships" id="261" r:id="Ra1eefc7b31a643ce"/>
    <p:sldId xmlns:r="http://schemas.openxmlformats.org/officeDocument/2006/relationships" id="262" r:id="R10a38b1819a14127"/>
    <p:sldId xmlns:r="http://schemas.openxmlformats.org/officeDocument/2006/relationships" id="263" r:id="Rbf61b0d0968a4c5b"/>
    <p:sldId xmlns:r="http://schemas.openxmlformats.org/officeDocument/2006/relationships" id="264" r:id="R48d8a09ebed840a8"/>
    <p:sldId xmlns:r="http://schemas.openxmlformats.org/officeDocument/2006/relationships" id="265" r:id="R57c9cfcc3c2d4303"/>
    <p:sldId xmlns:r="http://schemas.openxmlformats.org/officeDocument/2006/relationships" id="266" r:id="Rae0349f13b13440d"/>
    <p:sldId xmlns:r="http://schemas.openxmlformats.org/officeDocument/2006/relationships" id="267" r:id="R1cbbc5b124404424"/>
    <p:sldId xmlns:r="http://schemas.openxmlformats.org/officeDocument/2006/relationships" id="268" r:id="R0ab6843dc8334e7c"/>
    <p:sldId xmlns:r="http://schemas.openxmlformats.org/officeDocument/2006/relationships" id="269" r:id="Ra6d40015d005472c"/>
    <p:sldId xmlns:r="http://schemas.openxmlformats.org/officeDocument/2006/relationships" id="270" r:id="Rde7d539ebbd34d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eb1d93ce44011" /><Relationship Type="http://schemas.openxmlformats.org/officeDocument/2006/relationships/slideMaster" Target="/ppt/slideMasters/slideMaster1.xml" Id="Rf65c0b31d8d0483f" /><Relationship Type="http://schemas.openxmlformats.org/officeDocument/2006/relationships/notesMaster" Target="/ppt/notesMasters/notesMaster1.xml" Id="R4418d804b8f24216" /><Relationship Type="http://schemas.openxmlformats.org/officeDocument/2006/relationships/presProps" Target="/ppt/presProps.xml" Id="R710f38dff24e424e" /><Relationship Type="http://schemas.openxmlformats.org/officeDocument/2006/relationships/tableStyles" Target="/ppt/tableStyles.xml" Id="R32c9cc68d71a45d5" /><Relationship Type="http://schemas.openxmlformats.org/officeDocument/2006/relationships/slide" Target="/ppt/slides/slide1.xml" Id="Rf866a2933ff84af0" /><Relationship Type="http://schemas.openxmlformats.org/officeDocument/2006/relationships/slide" Target="/ppt/slides/slide2.xml" Id="Rd216f2030a7547aa" /><Relationship Type="http://schemas.openxmlformats.org/officeDocument/2006/relationships/slide" Target="/ppt/slides/slide3.xml" Id="Raed8ca25b32340f7" /><Relationship Type="http://schemas.openxmlformats.org/officeDocument/2006/relationships/slide" Target="/ppt/slides/slide4.xml" Id="Rc47872cfbfcc4ee7" /><Relationship Type="http://schemas.openxmlformats.org/officeDocument/2006/relationships/slide" Target="/ppt/slides/slide5.xml" Id="Ra4d2c97c5c734ad5" /><Relationship Type="http://schemas.openxmlformats.org/officeDocument/2006/relationships/slide" Target="/ppt/slides/slide6.xml" Id="Ra1eefc7b31a643ce" /><Relationship Type="http://schemas.openxmlformats.org/officeDocument/2006/relationships/slide" Target="/ppt/slides/slide7.xml" Id="R10a38b1819a14127" /><Relationship Type="http://schemas.openxmlformats.org/officeDocument/2006/relationships/slide" Target="/ppt/slides/slide8.xml" Id="Rbf61b0d0968a4c5b" /><Relationship Type="http://schemas.openxmlformats.org/officeDocument/2006/relationships/slide" Target="/ppt/slides/slide9.xml" Id="R48d8a09ebed840a8" /><Relationship Type="http://schemas.openxmlformats.org/officeDocument/2006/relationships/slide" Target="/ppt/slides/slide10.xml" Id="R57c9cfcc3c2d4303" /><Relationship Type="http://schemas.openxmlformats.org/officeDocument/2006/relationships/slide" Target="/ppt/slides/slide11.xml" Id="Rae0349f13b13440d" /><Relationship Type="http://schemas.openxmlformats.org/officeDocument/2006/relationships/slide" Target="/ppt/slides/slide12.xml" Id="R1cbbc5b124404424" /><Relationship Type="http://schemas.openxmlformats.org/officeDocument/2006/relationships/slide" Target="/ppt/slides/slide13.xml" Id="R0ab6843dc8334e7c" /><Relationship Type="http://schemas.openxmlformats.org/officeDocument/2006/relationships/slide" Target="/ppt/slides/slide14.xml" Id="Ra6d40015d005472c" /><Relationship Type="http://schemas.openxmlformats.org/officeDocument/2006/relationships/slide" Target="/ppt/slides/slide15.xml" Id="Rde7d539ebbd3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a25dfa5cd44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2414baa7b4e31" /><Relationship Type="http://schemas.openxmlformats.org/officeDocument/2006/relationships/notesMaster" Target="/ppt/notesMasters/notesMaster1.xml" Id="Rb18795855c9b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bc98a21e9f422a" /><Relationship Type="http://schemas.openxmlformats.org/officeDocument/2006/relationships/notesMaster" Target="/ppt/notesMasters/notesMaster1.xml" Id="R34b2357dcbda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37bf5df1884707" /><Relationship Type="http://schemas.openxmlformats.org/officeDocument/2006/relationships/notesMaster" Target="/ppt/notesMasters/notesMaster1.xml" Id="R75d01ed9f90a49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a213d591f14b14" /><Relationship Type="http://schemas.openxmlformats.org/officeDocument/2006/relationships/notesMaster" Target="/ppt/notesMasters/notesMaster1.xml" Id="R90b54e00e16749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ed7f5507574541" /><Relationship Type="http://schemas.openxmlformats.org/officeDocument/2006/relationships/notesMaster" Target="/ppt/notesMasters/notesMaster1.xml" Id="R4be063a336d4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86b7a91ff8411e" /><Relationship Type="http://schemas.openxmlformats.org/officeDocument/2006/relationships/notesMaster" Target="/ppt/notesMasters/notesMaster1.xml" Id="R1ee965cd173f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5f344de2db46c4" /><Relationship Type="http://schemas.openxmlformats.org/officeDocument/2006/relationships/notesMaster" Target="/ppt/notesMasters/notesMaster1.xml" Id="R0d3b3ecaca0749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ec2841428847e1" /><Relationship Type="http://schemas.openxmlformats.org/officeDocument/2006/relationships/notesMaster" Target="/ppt/notesMasters/notesMaster1.xml" Id="R563969e26f1f41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157514b8a640ae" /><Relationship Type="http://schemas.openxmlformats.org/officeDocument/2006/relationships/notesMaster" Target="/ppt/notesMasters/notesMaster1.xml" Id="Rc6648dbcb49d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8c6f597b44504" /><Relationship Type="http://schemas.openxmlformats.org/officeDocument/2006/relationships/notesMaster" Target="/ppt/notesMasters/notesMaster1.xml" Id="R76c430e4fb7e4b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5c013260d04112" /><Relationship Type="http://schemas.openxmlformats.org/officeDocument/2006/relationships/notesMaster" Target="/ppt/notesMasters/notesMaster1.xml" Id="Rba02ca82e91548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a4ac1fcb2c43a0" /><Relationship Type="http://schemas.openxmlformats.org/officeDocument/2006/relationships/notesMaster" Target="/ppt/notesMasters/notesMaster1.xml" Id="R362e56b1fac146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700e38cd194974" /><Relationship Type="http://schemas.openxmlformats.org/officeDocument/2006/relationships/notesMaster" Target="/ppt/notesMasters/notesMaster1.xml" Id="Rea8991d170e547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822a9531045ea" /><Relationship Type="http://schemas.openxmlformats.org/officeDocument/2006/relationships/notesMaster" Target="/ppt/notesMasters/notesMaster1.xml" Id="R48fd55adf5bb4a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eb8054757b4d3e" /><Relationship Type="http://schemas.openxmlformats.org/officeDocument/2006/relationships/notesMaster" Target="/ppt/notesMasters/notesMaster1.xml" Id="R600a7280b7a7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d4032827e45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54700bf49433b" /><Relationship Type="http://schemas.openxmlformats.org/officeDocument/2006/relationships/slideLayout" Target="/ppt/slideLayouts/slideLayout1.xml" Id="R12b0736c85c5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b0736c85c5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131ec3a8740b6" /><Relationship Type="http://schemas.openxmlformats.org/officeDocument/2006/relationships/notesSlide" Target="/ppt/notesSlides/notesSlide1.xml" Id="Ra51e2968c620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f979efac54bd5" /><Relationship Type="http://schemas.openxmlformats.org/officeDocument/2006/relationships/notesSlide" Target="/ppt/notesSlides/notesSlide2.xml" Id="Ra49f19999ef04c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bd188fd5b4af3" /><Relationship Type="http://schemas.openxmlformats.org/officeDocument/2006/relationships/chart" Target="/ppt/slides/charts/chart1.xml" Id="R27aff8354c084726" /><Relationship Type="http://schemas.openxmlformats.org/officeDocument/2006/relationships/notesSlide" Target="/ppt/notesSlides/notesSlide3.xml" Id="R78ff97f3cea84d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7d326d51d41ab" /><Relationship Type="http://schemas.openxmlformats.org/officeDocument/2006/relationships/chart" Target="/ppt/slides/charts/chart2.xml" Id="R12ec7041d0074d7c" /><Relationship Type="http://schemas.openxmlformats.org/officeDocument/2006/relationships/notesSlide" Target="/ppt/notesSlides/notesSlide4.xml" Id="R4df3bcf1663e4d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5170475cb42c3" /><Relationship Type="http://schemas.openxmlformats.org/officeDocument/2006/relationships/notesSlide" Target="/ppt/notesSlides/notesSlide5.xml" Id="R1d449f7bf581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dde0b34684ffa" /><Relationship Type="http://schemas.openxmlformats.org/officeDocument/2006/relationships/notesSlide" Target="/ppt/notesSlides/notesSlide6.xml" Id="R1c192b688e044e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c8adb099246f0" /><Relationship Type="http://schemas.openxmlformats.org/officeDocument/2006/relationships/chart" Target="/ppt/slides/charts/chart3.xml" Id="R13ce571e8e4c431d" /><Relationship Type="http://schemas.openxmlformats.org/officeDocument/2006/relationships/notesSlide" Target="/ppt/notesSlides/notesSlide7.xml" Id="R3846d4a6e0fa40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da34aab7c49f6" /><Relationship Type="http://schemas.openxmlformats.org/officeDocument/2006/relationships/notesSlide" Target="/ppt/notesSlides/notesSlide8.xml" Id="Rbbf88b02b5cb49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78098725b41c2" /><Relationship Type="http://schemas.openxmlformats.org/officeDocument/2006/relationships/notesSlide" Target="/ppt/notesSlides/notesSlide9.xml" Id="R2e765ea4d0fb42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ce453872048a5" /><Relationship Type="http://schemas.openxmlformats.org/officeDocument/2006/relationships/notesSlide" Target="/ppt/notesSlides/notesSlide10.xml" Id="Rbbbb5ac38a3445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29d15cf2e4309" /><Relationship Type="http://schemas.openxmlformats.org/officeDocument/2006/relationships/notesSlide" Target="/ppt/notesSlides/notesSlide11.xml" Id="Rdde7d0f265904e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05dc7f0234b97" /><Relationship Type="http://schemas.openxmlformats.org/officeDocument/2006/relationships/notesSlide" Target="/ppt/notesSlides/notesSlide12.xml" Id="R4edd427304104f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a13e0358248c0" /><Relationship Type="http://schemas.openxmlformats.org/officeDocument/2006/relationships/chart" Target="/ppt/slides/charts/chart4.xml" Id="R1156db02a8de4074" /><Relationship Type="http://schemas.openxmlformats.org/officeDocument/2006/relationships/notesSlide" Target="/ppt/notesSlides/notesSlide13.xml" Id="R6e7ac254505341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2ec3dcc0144b4" /><Relationship Type="http://schemas.openxmlformats.org/officeDocument/2006/relationships/notesSlide" Target="/ppt/notesSlides/notesSlide14.xml" Id="R5f87b912701840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5447f20884da9" /><Relationship Type="http://schemas.openxmlformats.org/officeDocument/2006/relationships/notesSlide" Target="/ppt/notesSlides/notesSlide15.xml" Id="Ree752c4b673c49f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回到原点所需涨幅</c:v>
          </c:tx>
          <c:spPr>
            <a:solidFill xmlns:a="http://schemas.openxmlformats.org/drawingml/2006/main">
              <a:srgbClr val="1570EF"/>
            </a:solidFill>
          </c:spPr>
          <c:dPt>
            <c:idx val="3"/>
            <c:spPr>
              <a:solidFill xmlns:a="http://schemas.openxmlformats.org/drawingml/2006/main">
                <a:srgbClr val="F79009"/>
              </a:solidFill>
            </c:spPr>
          </c:dPt>
          <c:dPt>
            <c:idx val="4"/>
            <c:spPr>
              <a:solidFill xmlns:a="http://schemas.openxmlformats.org/drawingml/2006/main">
                <a:srgbClr val="F04438"/>
              </a:solidFill>
            </c:spPr>
          </c:dPt>
          <c:cat>
            <c:strLit>
              <c:ptCount val="5"/>
              <c:pt idx="0">
                <c:v>回撤5%</c:v>
              </c:pt>
              <c:pt idx="1">
                <c:v>回撤10%</c:v>
              </c:pt>
              <c:pt idx="2">
                <c:v>回撤15%</c:v>
              </c:pt>
              <c:pt idx="3">
                <c:v>回撤20%</c:v>
              </c:pt>
              <c:pt idx="4">
                <c:v>回撤30%</c:v>
              </c:pt>
            </c:strLit>
          </c:cat>
          <c:val>
            <c:numLit>
              <c:formatCode>General</c:formatCode>
              <c:ptCount val="5"/>
              <c:pt idx="0">
                <c:v>0.053</c:v>
              </c:pt>
              <c:pt idx="1">
                <c:v>0.111</c:v>
              </c:pt>
              <c:pt idx="2">
                <c:v>0.176</c:v>
              </c:pt>
              <c:pt idx="3">
                <c:v>0.25</c:v>
              </c:pt>
              <c:pt idx="4">
                <c:v>0.429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目标比例</c:v>
          </c:tx>
          <c:dPt>
            <c:idx val="0"/>
            <c:spPr>
              <a:solidFill xmlns:a="http://schemas.openxmlformats.org/drawingml/2006/main">
                <a:srgbClr val="98A2B3"/>
              </a:solidFill>
            </c:spPr>
          </c:dPt>
          <c:dPt>
            <c:idx val="1"/>
            <c:spPr>
              <a:solidFill xmlns:a="http://schemas.openxmlformats.org/drawingml/2006/main">
                <a:srgbClr val="667085"/>
              </a:solidFill>
            </c:spPr>
          </c:dPt>
          <c:dPt>
            <c:idx val="2"/>
            <c:spPr>
              <a:solidFill xmlns:a="http://schemas.openxmlformats.org/drawingml/2006/main">
                <a:srgbClr val="F79009"/>
              </a:solidFill>
            </c:spPr>
          </c:dPt>
          <c:dPt>
            <c:idx val="3"/>
            <c:spPr>
              <a:solidFill xmlns:a="http://schemas.openxmlformats.org/drawingml/2006/main">
                <a:srgbClr val="12B76A"/>
              </a:solidFill>
            </c:spPr>
          </c:dPt>
          <c:dPt>
            <c:idx val="4"/>
            <c:spPr>
              <a:solidFill xmlns:a="http://schemas.openxmlformats.org/drawingml/2006/main">
                <a:srgbClr val="1570EF"/>
              </a:solidFill>
            </c:spPr>
          </c:dPt>
          <c:dPt>
            <c:idx val="5"/>
            <c:spPr>
              <a:solidFill xmlns:a="http://schemas.openxmlformats.org/drawingml/2006/main">
                <a:srgbClr val="7F56D9"/>
              </a:solidFill>
            </c:spPr>
          </c:dPt>
          <c:cat>
            <c:strLit>
              <c:ptCount val="6"/>
              <c:pt idx="0">
                <c:v>现金/货币</c:v>
              </c:pt>
              <c:pt idx="1">
                <c:v>短债/国债</c:v>
              </c:pt>
              <c:pt idx="2">
                <c:v>黄金</c:v>
              </c:pt>
              <c:pt idx="3">
                <c:v>红利低波</c:v>
              </c:pt>
              <c:pt idx="4">
                <c:v>沪深300/A500</c:v>
              </c:pt>
              <c:pt idx="5">
                <c:v>科技ETF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20</c:v>
              </c:pt>
              <c:pt idx="2">
                <c:v>8</c:v>
              </c:pt>
              <c:pt idx="3">
                <c:v>15</c:v>
              </c:pt>
              <c:pt idx="4">
                <c:v>12</c:v>
              </c:pt>
              <c:pt idx="5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0"/>
      </c:doughnutChart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对组合回撤贡献</c:v>
          </c:tx>
          <c:spPr>
            <a:solidFill xmlns:a="http://schemas.openxmlformats.org/drawingml/2006/main">
              <a:srgbClr val="F04438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7F56D9"/>
              </a:solidFill>
            </c:spPr>
          </c:dPt>
          <c:dPt>
            <c:idx val="1"/>
            <c:spPr>
              <a:solidFill xmlns:a="http://schemas.openxmlformats.org/drawingml/2006/main">
                <a:srgbClr val="1570EF"/>
              </a:solidFill>
            </c:spPr>
          </c:dPt>
          <c:dPt>
            <c:idx val="2"/>
            <c:spPr>
              <a:solidFill xmlns:a="http://schemas.openxmlformats.org/drawingml/2006/main">
                <a:srgbClr val="F79009"/>
              </a:solidFill>
            </c:spPr>
          </c:dPt>
          <c:dPt>
            <c:idx val="3"/>
            <c:spPr>
              <a:solidFill xmlns:a="http://schemas.openxmlformats.org/drawingml/2006/main">
                <a:srgbClr val="667085"/>
              </a:solidFill>
            </c:spPr>
          </c:dPt>
          <c:dPt>
            <c:idx val="4"/>
            <c:spPr>
              <a:solidFill xmlns:a="http://schemas.openxmlformats.org/drawingml/2006/main">
                <a:srgbClr val="D0D5DD"/>
              </a:solidFill>
            </c:spPr>
          </c:dPt>
          <c:cat>
            <c:strLit>
              <c:ptCount val="5"/>
              <c:pt idx="0">
                <c:v>科技ETF</c:v>
              </c:pt>
              <c:pt idx="1">
                <c:v>其他权益</c:v>
              </c:pt>
              <c:pt idx="2">
                <c:v>黄金</c:v>
              </c:pt>
              <c:pt idx="3">
                <c:v>固收</c:v>
              </c:pt>
              <c:pt idx="4">
                <c:v>现金</c:v>
              </c:pt>
            </c:strLit>
          </c:cat>
          <c:val>
            <c:numLit>
              <c:formatCode>General</c:formatCode>
              <c:ptCount val="5"/>
              <c:pt idx="0">
                <c:v>-0.0525</c:v>
              </c:pt>
              <c:pt idx="1">
                <c:v>-0.0675</c:v>
              </c:pt>
              <c:pt idx="2">
                <c:v>-0.012</c:v>
              </c:pt>
              <c:pt idx="3">
                <c:v>-0.006</c:v>
              </c:pt>
              <c:pt idx="4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本方案组合</c:v>
          </c:tx>
          <c:spPr>
            <a:ln xmlns:a="http://schemas.openxmlformats.org/drawingml/2006/main" w="47625">
              <a:solidFill>
                <a:srgbClr val="1570EF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2024-06</c:v>
              </c:pt>
              <c:pt idx="1">
                <c:v/>
              </c:pt>
              <c:pt idx="2">
                <c:v/>
              </c:pt>
              <c:pt idx="3">
                <c:v>2024-09</c:v>
              </c:pt>
              <c:pt idx="4">
                <c:v/>
              </c:pt>
              <c:pt idx="5">
                <c:v/>
              </c:pt>
              <c:pt idx="6">
                <c:v>2024-12</c:v>
              </c:pt>
              <c:pt idx="7">
                <c:v/>
              </c:pt>
              <c:pt idx="8">
                <c:v/>
              </c:pt>
              <c:pt idx="9">
                <c:v>2025-03</c:v>
              </c:pt>
              <c:pt idx="10">
                <c:v/>
              </c:pt>
              <c:pt idx="11">
                <c:v/>
              </c:pt>
              <c:pt idx="12">
                <c:v>2025-06</c:v>
              </c:pt>
              <c:pt idx="13">
                <c:v/>
              </c:pt>
              <c:pt idx="14">
                <c:v/>
              </c:pt>
              <c:pt idx="15">
                <c:v>2025-09</c:v>
              </c:pt>
              <c:pt idx="16">
                <c:v/>
              </c:pt>
              <c:pt idx="17">
                <c:v/>
              </c:pt>
              <c:pt idx="18">
                <c:v>2025-12</c:v>
              </c:pt>
              <c:pt idx="19">
                <c:v/>
              </c:pt>
              <c:pt idx="20">
                <c:v/>
              </c:pt>
              <c:pt idx="21">
                <c:v>2026-03</c:v>
              </c:pt>
              <c:pt idx="22">
                <c:v/>
              </c:pt>
              <c:pt idx="23">
                <c:v/>
              </c:pt>
              <c:pt idx="24">
                <c:v>2026-06</c:v>
              </c:pt>
              <c:pt idx="25">
                <c:v/>
              </c:pt>
              <c:pt idx="26">
                <c:v>2026-07</c:v>
              </c:pt>
            </c:strLit>
          </c:cat>
          <c:val>
            <c:numLit>
              <c:formatCode>General</c:formatCode>
              <c:ptCount val="27"/>
              <c:pt idx="0">
                <c:v>100.06</c:v>
              </c:pt>
              <c:pt idx="1">
                <c:v>100.64</c:v>
              </c:pt>
              <c:pt idx="2">
                <c:v>99.1</c:v>
              </c:pt>
              <c:pt idx="3">
                <c:v>108.73</c:v>
              </c:pt>
              <c:pt idx="4">
                <c:v>108.96</c:v>
              </c:pt>
              <c:pt idx="5">
                <c:v>110.1</c:v>
              </c:pt>
              <c:pt idx="6">
                <c:v>110.72</c:v>
              </c:pt>
              <c:pt idx="7">
                <c:v>109.68</c:v>
              </c:pt>
              <c:pt idx="8">
                <c:v>112.51</c:v>
              </c:pt>
              <c:pt idx="9">
                <c:v>112.57</c:v>
              </c:pt>
              <c:pt idx="10">
                <c:v>112.73</c:v>
              </c:pt>
              <c:pt idx="11">
                <c:v>113</c:v>
              </c:pt>
              <c:pt idx="12">
                <c:v>114.34</c:v>
              </c:pt>
              <c:pt idx="13">
                <c:v>115.82</c:v>
              </c:pt>
              <c:pt idx="14">
                <c:v>124.1</c:v>
              </c:pt>
              <c:pt idx="15">
                <c:v>128.34</c:v>
              </c:pt>
              <c:pt idx="16">
                <c:v>128.25</c:v>
              </c:pt>
              <c:pt idx="17">
                <c:v>126.56</c:v>
              </c:pt>
              <c:pt idx="18">
                <c:v>127.49</c:v>
              </c:pt>
              <c:pt idx="19">
                <c:v>133.73</c:v>
              </c:pt>
              <c:pt idx="20">
                <c:v>133.35</c:v>
              </c:pt>
              <c:pt idx="21">
                <c:v>126.14</c:v>
              </c:pt>
              <c:pt idx="22">
                <c:v>133.97</c:v>
              </c:pt>
              <c:pt idx="23">
                <c:v>137.52</c:v>
              </c:pt>
              <c:pt idx="24">
                <c:v>144.94</c:v>
              </c:pt>
              <c:pt idx="25">
                <c:v>134.21</c:v>
              </c:pt>
              <c:pt idx="26">
                <c:v>134.21</c:v>
              </c:pt>
            </c:numLit>
          </c:val>
        </c:ser>
        <c:ser>
          <c:idx val="1"/>
          <c:order val="1"/>
          <c:tx>
            <c:v>沪深300 ETF</c:v>
          </c:tx>
          <c:spPr>
            <a:ln xmlns:a="http://schemas.openxmlformats.org/drawingml/2006/main" w="28575">
              <a:solidFill>
                <a:srgbClr val="12B76A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2024-06</c:v>
              </c:pt>
              <c:pt idx="1">
                <c:v/>
              </c:pt>
              <c:pt idx="2">
                <c:v/>
              </c:pt>
              <c:pt idx="3">
                <c:v>2024-09</c:v>
              </c:pt>
              <c:pt idx="4">
                <c:v/>
              </c:pt>
              <c:pt idx="5">
                <c:v/>
              </c:pt>
              <c:pt idx="6">
                <c:v>2024-12</c:v>
              </c:pt>
              <c:pt idx="7">
                <c:v/>
              </c:pt>
              <c:pt idx="8">
                <c:v/>
              </c:pt>
              <c:pt idx="9">
                <c:v>2025-03</c:v>
              </c:pt>
              <c:pt idx="10">
                <c:v/>
              </c:pt>
              <c:pt idx="11">
                <c:v/>
              </c:pt>
              <c:pt idx="12">
                <c:v>2025-06</c:v>
              </c:pt>
              <c:pt idx="13">
                <c:v/>
              </c:pt>
              <c:pt idx="14">
                <c:v/>
              </c:pt>
              <c:pt idx="15">
                <c:v>2025-09</c:v>
              </c:pt>
              <c:pt idx="16">
                <c:v/>
              </c:pt>
              <c:pt idx="17">
                <c:v/>
              </c:pt>
              <c:pt idx="18">
                <c:v>2025-12</c:v>
              </c:pt>
              <c:pt idx="19">
                <c:v/>
              </c:pt>
              <c:pt idx="20">
                <c:v/>
              </c:pt>
              <c:pt idx="21">
                <c:v>2026-03</c:v>
              </c:pt>
              <c:pt idx="22">
                <c:v/>
              </c:pt>
              <c:pt idx="23">
                <c:v/>
              </c:pt>
              <c:pt idx="24">
                <c:v>2026-06</c:v>
              </c:pt>
              <c:pt idx="25">
                <c:v/>
              </c:pt>
              <c:pt idx="26">
                <c:v>2026-07</c:v>
              </c:pt>
            </c:strLit>
          </c:cat>
          <c:val>
            <c:numLit>
              <c:formatCode>General</c:formatCode>
              <c:ptCount val="27"/>
              <c:pt idx="0">
                <c:v>100.21</c:v>
              </c:pt>
              <c:pt idx="1">
                <c:v>100.86</c:v>
              </c:pt>
              <c:pt idx="2">
                <c:v>97.31</c:v>
              </c:pt>
              <c:pt idx="3">
                <c:v>123.03</c:v>
              </c:pt>
              <c:pt idx="4">
                <c:v>115.02</c:v>
              </c:pt>
              <c:pt idx="5">
                <c:v>115.94</c:v>
              </c:pt>
              <c:pt idx="6">
                <c:v>116.58</c:v>
              </c:pt>
              <c:pt idx="7">
                <c:v>113.06</c:v>
              </c:pt>
              <c:pt idx="8">
                <c:v>115.72</c:v>
              </c:pt>
              <c:pt idx="9">
                <c:v>115.42</c:v>
              </c:pt>
              <c:pt idx="10">
                <c:v>111.81</c:v>
              </c:pt>
              <c:pt idx="11">
                <c:v>114.65</c:v>
              </c:pt>
              <c:pt idx="12">
                <c:v>118.05</c:v>
              </c:pt>
              <c:pt idx="13">
                <c:v>123.34</c:v>
              </c:pt>
              <c:pt idx="14">
                <c:v>136.98</c:v>
              </c:pt>
              <c:pt idx="15">
                <c:v>141.27</c:v>
              </c:pt>
              <c:pt idx="16">
                <c:v>141.73</c:v>
              </c:pt>
              <c:pt idx="17">
                <c:v>138.02</c:v>
              </c:pt>
              <c:pt idx="18">
                <c:v>141.63</c:v>
              </c:pt>
              <c:pt idx="19">
                <c:v>144.11</c:v>
              </c:pt>
              <c:pt idx="20">
                <c:v>144.54</c:v>
              </c:pt>
              <c:pt idx="21">
                <c:v>136.52</c:v>
              </c:pt>
              <c:pt idx="22">
                <c:v>147.57</c:v>
              </c:pt>
              <c:pt idx="23">
                <c:v>150.6</c:v>
              </c:pt>
              <c:pt idx="24">
                <c:v>153.53</c:v>
              </c:pt>
              <c:pt idx="25">
                <c:v>142.25</c:v>
              </c:pt>
              <c:pt idx="26">
                <c:v>142.25</c:v>
              </c:pt>
            </c:numLit>
          </c:val>
        </c:ser>
        <c:ser>
          <c:idx val="2"/>
          <c:order val="2"/>
          <c:tx>
            <c:v>科创50 ETF</c:v>
          </c:tx>
          <c:spPr>
            <a:ln xmlns:a="http://schemas.openxmlformats.org/drawingml/2006/main" w="28575">
              <a:solidFill>
                <a:srgbClr val="7F56D9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2024-06</c:v>
              </c:pt>
              <c:pt idx="1">
                <c:v/>
              </c:pt>
              <c:pt idx="2">
                <c:v/>
              </c:pt>
              <c:pt idx="3">
                <c:v>2024-09</c:v>
              </c:pt>
              <c:pt idx="4">
                <c:v/>
              </c:pt>
              <c:pt idx="5">
                <c:v/>
              </c:pt>
              <c:pt idx="6">
                <c:v>2024-12</c:v>
              </c:pt>
              <c:pt idx="7">
                <c:v/>
              </c:pt>
              <c:pt idx="8">
                <c:v/>
              </c:pt>
              <c:pt idx="9">
                <c:v>2025-03</c:v>
              </c:pt>
              <c:pt idx="10">
                <c:v/>
              </c:pt>
              <c:pt idx="11">
                <c:v/>
              </c:pt>
              <c:pt idx="12">
                <c:v>2025-06</c:v>
              </c:pt>
              <c:pt idx="13">
                <c:v/>
              </c:pt>
              <c:pt idx="14">
                <c:v/>
              </c:pt>
              <c:pt idx="15">
                <c:v>2025-09</c:v>
              </c:pt>
              <c:pt idx="16">
                <c:v/>
              </c:pt>
              <c:pt idx="17">
                <c:v/>
              </c:pt>
              <c:pt idx="18">
                <c:v>2025-12</c:v>
              </c:pt>
              <c:pt idx="19">
                <c:v/>
              </c:pt>
              <c:pt idx="20">
                <c:v/>
              </c:pt>
              <c:pt idx="21">
                <c:v>2026-03</c:v>
              </c:pt>
              <c:pt idx="22">
                <c:v/>
              </c:pt>
              <c:pt idx="23">
                <c:v/>
              </c:pt>
              <c:pt idx="24">
                <c:v>2026-06</c:v>
              </c:pt>
              <c:pt idx="25">
                <c:v/>
              </c:pt>
              <c:pt idx="26">
                <c:v>2026-07</c:v>
              </c:pt>
            </c:strLit>
          </c:cat>
          <c:val>
            <c:numLit>
              <c:formatCode>General</c:formatCode>
              <c:ptCount val="27"/>
              <c:pt idx="0">
                <c:v>99.33</c:v>
              </c:pt>
              <c:pt idx="1">
                <c:v>103.73</c:v>
              </c:pt>
              <c:pt idx="2">
                <c:v>97.07</c:v>
              </c:pt>
              <c:pt idx="3">
                <c:v>126.67</c:v>
              </c:pt>
              <c:pt idx="4">
                <c:v>136</c:v>
              </c:pt>
              <c:pt idx="5">
                <c:v>141.33</c:v>
              </c:pt>
              <c:pt idx="6">
                <c:v>139.33</c:v>
              </c:pt>
              <c:pt idx="7">
                <c:v>134.53</c:v>
              </c:pt>
              <c:pt idx="8">
                <c:v>151.07</c:v>
              </c:pt>
              <c:pt idx="9">
                <c:v>143.2</c:v>
              </c:pt>
              <c:pt idx="10">
                <c:v>141.6</c:v>
              </c:pt>
              <c:pt idx="11">
                <c:v>137.33</c:v>
              </c:pt>
              <c:pt idx="12">
                <c:v>140.8</c:v>
              </c:pt>
              <c:pt idx="13">
                <c:v>146.8</c:v>
              </c:pt>
              <c:pt idx="14">
                <c:v>188.27</c:v>
              </c:pt>
              <c:pt idx="15">
                <c:v>209.33</c:v>
              </c:pt>
              <c:pt idx="16">
                <c:v>198.4</c:v>
              </c:pt>
              <c:pt idx="17">
                <c:v>185.73</c:v>
              </c:pt>
              <c:pt idx="18">
                <c:v>188.93</c:v>
              </c:pt>
              <c:pt idx="19">
                <c:v>211.73</c:v>
              </c:pt>
              <c:pt idx="20">
                <c:v>208.8</c:v>
              </c:pt>
              <c:pt idx="21">
                <c:v>176.53</c:v>
              </c:pt>
              <c:pt idx="22">
                <c:v>220.53</c:v>
              </c:pt>
              <c:pt idx="23">
                <c:v>245.87</c:v>
              </c:pt>
              <c:pt idx="24">
                <c:v>312.53</c:v>
              </c:pt>
              <c:pt idx="25">
                <c:v>242</c:v>
              </c:pt>
              <c:pt idx="26">
                <c:v>242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6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0182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4A596-ECD3-4C30-8389-43DF54CB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36918-BDFC-4EA2-94BD-459EBF70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100万元多资产组合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ABC30-F5D7-4BB9-8F22-7573B73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金融基础、风险回撤与控制方法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68AAD-932E-4CD5-9BCB-45147327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目标不是预测每一次涨跌，而是在可承受的回撤内持续参与市场 Beta。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A09BB-DFE6-4340-AF61-A8E660FC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1050"/>
            <a:ext cx="342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A4AC3-4A54-491F-B1FB-5B8717F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43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组合约束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7CA79-D780-4BB6-B5DA-CDC1E83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≤20%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BA3D7-DA26-4FEB-95ED-088C5878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最大可接受回撤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6D07A-8129-4074-B73C-0510813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574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在16%—18%前主动降风险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86674-0D51-4FB3-AF62-3A7E59B7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42%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100C0-8A9C-4E44-ACAE-F90E1966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权益风险预算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87C72-5B15-46F4-B121-7DD01C18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957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核心Beta 12% + 科技Beta 15% + 红利15%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C2AAF-AF7A-43B8-B304-127C54BC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适用范围：100万元人民币资产池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不含约10万元人民币的美股账户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300F3-413C-4915-A5D9-9C31917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2026年7月21日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DF305-ED3F-4B5B-86F4-43A9D34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153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AI Berkshire × Vibe Trading</a:t>
            </a:r>
          </a:p>
        </p:txBody>
      </p:sp>
    </p:spTree>
    <p:extLst>
      <p:ext uri="{BB962C8B-B14F-4D97-AF65-F5344CB8AC3E}">
        <p14:creationId xmlns:p14="http://schemas.microsoft.com/office/powerpoint/2010/main" val="1730184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E510E-4E64-44B6-BEC9-127DD8A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金融基本知识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B104-3E57-4EEE-B020-A4B43BAE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投资的三角约束：收益、风险与流动性不能同时最大化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D679C-8905-405F-B616-002C7FE8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077F3-2670-4E17-86AE-70AA3DA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23469-41B6-41EC-91F9-C15E8265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3B4CF-216E-4E31-BF91-D29CF8DA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收益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8F795-DFD9-40E1-A933-423B9AF5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来自利息、股息、企业盈利增长和估值变化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513B0-55ED-45AD-A882-63EAB7B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目标：获取合理回报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AE7CD-3F0C-4B4E-ACE7-AC8DF0B8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F5EB5-D939-4AA3-A4CF-75C6C8C9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6F7D9-D037-4075-8B2E-416CBF7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波动只是表面；永久损失、被迫卖出和集中暴露更危险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D7382-3456-498C-B69E-ED2BD5B6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05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约束：回撤不超过20%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87AB2-237F-4560-BA1F-41AE00E6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2875D-1372-4277-82FC-081E9EC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流动性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5CE7F-9BC9-4BF4-B001-F3F9EB58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现金让计划能够执行，也避免在最坏时刻被迫卖出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F69EF-6AF9-4EB5-BC3A-29B129A7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作用：保留选择权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4FEE5-0355-4E3C-8970-92ABBB0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本方案的取舍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2338C-1F7E-41E4-BAFA-1092ED43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不追求最高收益率，而是用58%的防御资产换取“不会在坏时点被迫退出”的生存能力。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90974-5B98-4F2C-BC11-01C0D06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6CF5A-A214-4AF2-B05B-CF211D02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584650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66F2F-07D4-4909-AAD4-C85E0894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金融基本知识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AA80E-754C-4EFB-AD24-F62BBD1B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亏损具有非对称性：回撤越深，恢复成本越陡峭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B0065-DE7B-49A5-A527-62A6CC69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F2192-2B06-43C0-AA88-305CEE7C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aff8354c08472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4D840-A5F2-469C-A8C3-2100874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B8EBB-2C27-4C23-AC10-A77B808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回撤后，需要上涨25%才能回本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8707A-15A0-41AD-B4F8-2F98DCA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这就是为什么风险控制必须在达到上限之前启动，而不是等亏损已经发生。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CFD6F-48E4-477B-83DF-E0C0999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23812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6C5ED-6189-4B01-8275-FB2FA8E1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14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先活下来，再谈收益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6FE07-5AA9-4CA4-B741-D6BD3E3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138A4-DFF2-49A7-8402-F5E1491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数学关系：回本涨幅 = 1 ÷（1－回撤率）－1。</a:t>
            </a:r>
          </a:p>
        </p:txBody>
      </p:sp>
    </p:spTree>
    <p:extLst>
      <p:ext uri="{BB962C8B-B14F-4D97-AF65-F5344CB8AC3E}">
        <p14:creationId xmlns:p14="http://schemas.microsoft.com/office/powerpoint/2010/main" val="194721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38850-6B12-42DA-B7C2-82C4E944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组合结构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9085B-2438-4E06-A79A-55A275EA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六类资产各司其职，组合不是六个独立赌注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7CFB4-E41C-4015-8728-4539168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657E2-EFE3-4FD9-AD8F-425FB6F8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5429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ec7041d0074d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693DA-8ACD-4887-A0A8-4A9486D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C61BE-CF15-4F92-A6EF-EDCE1AB1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A1B3F-A80B-417B-B2B2-9BD0DF47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38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现金 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94D13-24E2-4858-85FA-71DDEAB1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流动性与加仓弹药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DE52E-F869-4A26-9BE2-490EEAA5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5FBDD-3FA8-4067-AF61-53C5DC9A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15C2D-F9B6-4BF2-81BE-0542C75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短债 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1F174-EFEF-472E-980B-7A502140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稳定净值与票息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471DA-4A4D-48EA-921F-6B8CB250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D0B25-FEE9-48F7-86A5-A660ED5E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F7E96-00BB-4AD6-A34D-8B187D1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黄金 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B1D04-AF25-4729-A239-C12B26B3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尾部风险与货币对冲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2980E-FAA1-4509-B8B9-05C4618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4A5DC-63BA-4407-BB45-F129EF65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25FD0-0002-485D-ABB7-C3C8A9F8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红利 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93663-9D28-474A-84A8-3D64A6C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防御型权益与股息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02112-5F81-4F94-A6FD-72BA018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0BD2E-ABE3-45A3-A912-F3BC5B25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DCE6A-7AEC-4094-BBC3-69A18F9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核心宽基 12%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68D55-5EEA-4E8A-8BEB-D731EF1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A股核心 Beta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81271-83FD-4552-88EC-D30C240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9AA20-095F-4FC7-AB88-CF1EB0DE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E7316-5044-49F6-93B9-01EBEB04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67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3F014-834A-4587-8C4C-07ACEC30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高弹性卫星 Beta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4156E-F407-4225-9BF0-51E79F16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9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核心逻辑：现金和固收负责“活下来”，宽基与科技负责“参与上涨”。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FFFA3-80E6-4B54-B448-F2B20F36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04753D-C341-497E-AA13-628B260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037832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30051C-19E4-407D-9831-3CB4F0C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组合结构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48399-EB06-451A-96AF-974E97A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58%的防御资产，为42%的权益风险预算提供缓冲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7E1D0-9302-4B95-A179-1587B80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A1CD5-68FB-4CA5-B4AD-0AE61569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E2993-D947-44D2-AB29-F716FC7A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目标配置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15BF0-0239-4A7D-96D4-A6AB4A29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6FF44-E717-44A6-9FDE-A9A9A81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96646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D6164-C1F2-4A63-B094-92CF5D3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210" y="2095500"/>
            <a:ext cx="432054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CA0C2-21DF-4923-97AA-E96AF6E5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防御与对冲 58%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CAD4D-5B90-41EF-8074-222EAF2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权益 Beta 42%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480C-98AB-4B11-B1CE-F5B7241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现金/货币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A8B66-532E-4D8B-8606-CB4D387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90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62D7-021D-4F3C-B99D-84D7C7A8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0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不承担方向风险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7E850-370B-40B9-AAE9-970F8B17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7CD4A-BFE0-44B5-BDF9-FEBCF1C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短债/国债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90637-5D36-4D03-B48C-2019EEE8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33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27F37-CBDD-4F2D-8BDC-128FF4B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43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降低波动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3FE23-1D0A-47CB-8300-671D4E66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6CE6C-8AAE-4904-89FF-32B34435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黄金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BAC42-5BAE-48A1-9832-361599B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76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B1F40-C20F-4809-849A-1B4AE85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86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分散尾部风险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78AC1-3108-4194-84DB-A81DE7B3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D523D-0074-4B31-9802-6A35A4A8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红利低波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C85FF-128A-47B5-802B-A3222CDD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90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8F57D-0EE6-4C12-946A-552CCD6C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权益防御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4163B-9B78-4297-BA08-7F629236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8C6EF0-BE75-4590-8893-9708F0EF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3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宽基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CCE38-BF38-4CA6-A97B-F9EF072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33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2EDB4-7B73-4BDB-8A34-B374D819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43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核心市场收益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CF508F-7B55-4334-81D5-B1AFA8F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2ABF4-FAC4-4A86-BD54-2A4A9A7E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科技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FFEBD0-ADA6-456C-8285-3691C87A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76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7B236F-F362-40B5-9D08-5C7625D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86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高弹性收益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45E3C4-D5A4-4158-84F7-055DE3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38D008-0A43-474C-BEF1-D7DD207C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组合不是低风险产品；它是“权益参与度适中、回撤预算明确”的中等风险方案。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5664FB-2D62-42A1-B594-DFDE539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D28703-D5E4-4417-AFA2-B7DB832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831401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56334-03B4-42E6-BF21-C716D0E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收益合理性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2FD29-68EA-4DE8-8934-9D87E05F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收益来自三台发动机，而不是押中一个热点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A7DFB-C0E0-4B31-8837-DEF58441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5D0BA-457D-446C-A922-6386359F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513AD-DF51-481C-9E96-7AFB3D1F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6974B-8AFB-478E-BE42-3F23AC8F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309AB-30EE-4579-8156-7529C881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稳定收益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1B898-69B9-4B65-891A-5395AB8C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现金与固收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5C18-BF00-47FC-BFFC-4E3268F4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提供流动性、票息和再平衡弹药；降低组合被迫卖出的概率。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2F082-CCFB-4A2A-8B26-AA836383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F9AAB-69B1-4611-802A-8B29FFD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102EB-4EC9-4AC7-801A-3992AAA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核心 Beta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5E0F0-3953-4E18-8B9A-C0F5A1CB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红利与宽基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D510E-7F6A-4536-BA72-155851B4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分享企业盈利、股息与市场长期增长，是组合主要的常规权益收益来源。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8AD55-6F83-4177-9E75-78336637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57262-20C9-4938-9931-C2DA310A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9C12A-1BD4-4D5E-8A11-3D5F1AA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弹性 Beta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1DBC2-4DBE-47D2-858E-8AEE195C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科技 ETF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C344E-B5EC-4FC5-A577-3DB036DF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在风险偏好修复时提高上涨参与度；仓位受限，避免主题波动主导组合。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A6914-EC1F-4A9D-A883-8E1BDEC6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合理性不在于预测一个年化数字，而在于：上涨时有参与，震荡时有收益来源，下跌时有现金与纪律。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5D2CD-A2F0-4E58-8EBB-FED4402A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ABD68-B6D9-45C4-B5E0-A87F5593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378816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5EA8C-6CDE-4BC4-BB31-3BE15FA1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风险回撤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6A004-8912-4FB3-9FC7-209AC9E6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基准压力测试约回撤13.8%，仍低于20%硬约束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96524-E192-4B4A-804E-92A9265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3A93A-0DF2-43E1-895B-804CCEDF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ce571e8e4c43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3CEB2-38DC-48B5-920A-7F9BDBA7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-13.8%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0FE27-2527-4DCB-8DA5-BC3ECA65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基准压力情景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8A4BE-EBC1-4506-9EF4-ED97FCE1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7D512-C3BD-4387-8A8A-AD8E5D2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科技仓下跌35%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B9F5D-9348-4B6C-9F2F-E93DEDC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76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9699A-6C51-41AC-894F-32406A3C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其余权益下跌25%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B1310-E150-4920-B5B1-FC341DEA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95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80FF7-1FAA-4C3E-9922-2E27D0C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黄金下跌15%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D50E-A656-409E-8D27-F121F866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B7E5A-340D-4C6C-9377-ECE3C0A8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固收下跌3%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F2BA8-55BF-4DB8-AB4B-EEA98AB3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3048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7F45E-FA07-4016-91B9-1D3CD729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距20%上限仍有6.2个百分点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7F606-EF96-4E3E-B7C1-6564881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94921-78BD-49B5-BE8E-7F56CFDC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压力测试贡献：资产权重 × 假设跌幅；未计税费、跟踪误差和相关性突变。</a:t>
            </a:r>
          </a:p>
        </p:txBody>
      </p:sp>
    </p:spTree>
    <p:extLst>
      <p:ext uri="{BB962C8B-B14F-4D97-AF65-F5344CB8AC3E}">
        <p14:creationId xmlns:p14="http://schemas.microsoft.com/office/powerpoint/2010/main" val="412969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F93D3-2C70-4C17-AB7A-CC7F97D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风险回撤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D4B53-2D70-43B0-B31B-84A61AD0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真正的风险是“相关性一起上升”，因此必须动态降仓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DE35C-9EA1-440B-AA2F-B7BEBCF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1AC52-35EB-485A-8689-79992042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6FBEB-9161-4332-B5E5-E2C13B1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BF7B0-905E-4D95-9EF5-7B4B811C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19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主要假设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828D5-ADC4-44A5-A123-0FD6C2C5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组合结果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D943A-0BF9-4EE0-A507-06E260B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9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A58FB-A683-47A6-A04B-421375C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532C2-7A1F-4A5C-87A4-4283B1A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温和上涨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51194-5F13-4728-B264-CA2D0F1D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430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+25%，其他权益 +15%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6ADCC-2D4B-437F-8166-36B1D32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430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约 +8.9%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343BB-A8B0-4380-A922-CA3D9B54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正常参与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8C726-6271-4232-927D-DC0CA70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4EA30-B78F-4D99-BD4A-FF5DD6F9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普通调整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40B87-002E-479A-A98E-3CD6CECE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-15%，其他权益 -8%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60654-85F3-4DF0-81CA-AA0FB68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约 -3.3%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B7A29-1932-4799-A77A-9C48C94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继续分批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398EE-27A5-452D-9E8D-C20F5A7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F66A2-5856-4896-9730-32DA9ED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基准压力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415CD-1331-4601-95E4-3271D6FE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956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-35%，其他权益 -25%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5120A-ADD0-40AA-BC22-D3F5F15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约 -13.8%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D5579-3AC8-4389-AC29-6879D614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触发主动防守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D8F26-598D-4AA4-BD84-1F26C77D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2A43A-50FF-4507-B2FA-85C900D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极端共振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F2E08-CBC6-40DF-B8FC-3D942BB1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719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-50%，其他权益 -35%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AFD41-CA5E-45D5-AF21-F1DD120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约 -20.2%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37B64-578C-426E-AE85-A68DB2F4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若不降仓将突破上限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501BD-72C8-4CC8-9179-327D1AE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情景不是预测；它的作用是提前规定：如果风险发生，我们要做什么。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B51BB-665B-4114-8EBD-8414F5F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C88741-0CB0-4997-9446-74D23351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904084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7FF96-D6C7-4F71-AA1A-B7AC965C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控制方法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FA2C-9EA5-4CFF-829D-7E25D20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风险控制必须早于20%启动：四道阈值逐级降风险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1CA1D-9B5D-4BF5-B790-997AF97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27BD9-C4F6-4772-BFFF-268558D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E7713-ED62-4518-B4BC-F6D5F9E6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FE655-5273-46BC-BBE8-06E9665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FE466-9C15-430E-A3D6-F267951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-6%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EEF6-D7C3-4BBA-A2C1-60733B94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停止加速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69D4D-366F-40AA-B273-D0506206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停止所有高Beta新增仓位；复核市场广度和两融。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729B2-EB97-482C-B993-0B210A79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D42DE-EFE5-4A81-8F03-F13C8E4F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-10%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F10FE-26DD-4FC4-830F-FE312605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削减风险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B0D2C-3932-4920-96B3-B466E3BA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科技与小盘仓合计减三分之一；不再摊平错误。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4C4D4-0DEE-479E-BCA6-B663C320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F003D-1A0F-4224-9409-20541282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-15%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42E3D-8874-429B-B2B5-EA3E5BFD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进入防守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52F82-3F43-4DAD-A662-CE6DBF5E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科技降至≤5%，权益总仓降至≤25%。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DBC78-E2A1-4C42-A7C9-58754D8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FB46A-07E1-4BCD-A02D-5EB54352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-18%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FEA84-CB4A-42A3-AE3D-8911F917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保护本金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99682-02E4-4244-B764-0D05433A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现金优先；不允许等到20%才执行止损。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77CD8-E980-4290-B06E-0FAB8AAF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91150"/>
            <a:ext cx="4191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55E82-29A8-4BA7-8E37-63E6585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全程禁用融资与杠杆ETF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7B477-AB84-44A3-AFA0-2410F4E2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05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纪律的目的不是每次都卖在高点，而是防止一次错误摧毁长期复利。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F246B-7C82-4B13-BC7D-5D33B18F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C4B8F-1410-498A-9CAA-B8461D0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533430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D6DA6-B44C-49F9-B981-65E6B585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执行方法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4B2E7-1838-41E7-B69F-F71E1192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建仓顺序：先建立生存能力，再逐步购买增长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C908-31C2-4697-97E7-74A6441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8B55-1B01-4FB1-9A98-660201AE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9EA9B-CB0A-41AF-9400-896EA3BD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61593-8BB2-4EAB-A4FB-CBB87743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第一层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现金与货币 20—30万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E51BC-51FE-4BC6-9C8D-21802F1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9BEAB-2528-4AC2-B9E7-CD54EDAB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052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第二层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短债/国债先建10万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4FA02-307C-4449-9574-77AFCCBA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06B9D-50FA-4CE9-AF44-384EC38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847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第三层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黄金、红利分批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099AE-27B1-4BBD-ACD3-DB5B0F5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190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E85B-FA36-4431-B1DA-A057732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1847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第四层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宽基完成12万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E4A25-397D-4B3F-94B4-9921D10E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209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54386-CFDE-4321-B3C3-06AB9D41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19250"/>
            <a:ext cx="17526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第五层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科技分四阶段至15万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B7A47-60C7-472A-87D3-C6A46FC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7B43A-87B0-4222-8BDA-46792333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286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A4A22-5486-42EA-BD04-EECE8DE2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沪深300 已执行3万元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9AFE8-76AB-4CE7-959A-849B073D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3812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D5360-D7C3-41E6-BB27-E2147A7E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科技首阶段授权3万元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2F35-A3DD-420A-826F-B7D2FEEC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“授权”不等于必须当天买满；未触发的资金继续留在现金模块。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786B7-BB58-4C01-96F7-D18F4E2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0B40C-2EB9-453D-AE86-BD6BB0B1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当前状态根据2026-07-21盘中组合更新；成交成本未提供，按模块记账。</a:t>
            </a:r>
          </a:p>
        </p:txBody>
      </p:sp>
    </p:spTree>
    <p:extLst>
      <p:ext uri="{BB962C8B-B14F-4D97-AF65-F5344CB8AC3E}">
        <p14:creationId xmlns:p14="http://schemas.microsoft.com/office/powerpoint/2010/main" val="1569217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45642-7EC6-43A5-A1D1-107F9010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监控指标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05877-5FB5-455D-AD2B-B82DAB3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风险偏好回来，需要五类证据同时改善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EB6C5-4205-4FB0-A751-2225213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54BA8-9AB9-4D4F-B286-8CC28BB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20D8C-2BF1-45FB-ADBA-97DD348A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CB24D-732F-4256-96C7-6A38BEB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健康信号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22519-6EC0-4633-BE13-BEABA845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38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风险信号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AD6A8-9D3A-4DFB-8140-B3D8C1FB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85CDB-C999-4604-947E-440893D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市场广度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E5579-0645-44A8-8371-B5CF3AD6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上涨/下跌家数 &gt; 1，市场中位数连续转正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F3902-18E2-4ABA-A653-8F86C6A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只涨权重、个股普跌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894D2-2AFF-4215-8F59-3DF8EAFE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911AB-B902-40A0-B90D-D574900E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跌停与波动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80798-2B45-4509-8361-ABA7864B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336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跌停降至100以下，进一步低于50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AC144-244E-435A-83C4-3C8D043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336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重新扩散至200以上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C4FF1-90F7-445F-B0FC-6CA76E3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2F59E-C034-42C9-A6CC-0AC7CD48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相对强弱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92D48-2F89-425C-9491-D0FB5F3C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147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中证1000相对沪深300止跌向上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1DEF9-9885-443D-8ADC-207B23B2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高Beta继续显著跑输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089D3-5093-4E12-A521-E1F485D4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BE408-EC00-4811-935B-F1FC338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量价结构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C0130-8F7A-404C-A9A7-8D490B9B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957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放量上涨，回踩缩量且有承接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B931C-9EAE-4560-8FC0-F8247A0B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957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高开低走、放量滞涨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78F1E-75C9-435A-B5B4-9C68A181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62EFA-ABB9-46E4-AE22-DB4232E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杠杆与事件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3FC42-879C-41A2-82A3-993EEA63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768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融资余额企稳；长鑫上市后科技不创新低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F2165-03A1-4E1B-AAF2-2AFAF99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768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两融继续下降；7月27日二次踩踏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378B65-2FC8-4173-935E-4460C5F9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至少五项中的三项持续改善，才从“超跌反弹”升级为“风险偏好修复”。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ACC23-F17E-4272-BE91-ECEB0F00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25C68-35FF-4F44-BEFC-8E76D54E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关键事件：长鑫科技计划于2026年7月27日上市；该日期尚在未来。</a:t>
            </a:r>
          </a:p>
        </p:txBody>
      </p:sp>
    </p:spTree>
    <p:extLst>
      <p:ext uri="{BB962C8B-B14F-4D97-AF65-F5344CB8AC3E}">
        <p14:creationId xmlns:p14="http://schemas.microsoft.com/office/powerpoint/2010/main" val="1052586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B320C-3FEC-4A15-A43B-A01BBCBA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方案评估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9123E-22B5-400A-93EC-6C8B33AC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方案的合理性来自四个可验证条件，而不是看起来分散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635DB-B1D2-459C-A4A2-ADD7F19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A05E1-A27B-41DE-A848-F0BE37F0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B9734-A0CC-46E6-B898-57A7C36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EFA93-A28E-41A6-8331-D638F4A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8F54F-436B-486D-B6A1-FF3A6C8B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857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风险预算一致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5456B-ACAB-4DF5-AFBC-57B27E5C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362200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权益42%，高波动科技仅15%；与中等风险和20%回撤约束匹配。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8A669-2A17-4DC9-97DE-D905353A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CC5C3-4428-481E-873E-174153D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6C4ED-E8FA-465C-B1C2-CAA067C6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57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资金用途清晰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64B9-B022-4C54-A7FA-C53F9F26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每个模块都有职责；未触发的资金回到现金，而非被迫寻找交易。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25F6-806F-4A75-80F9-767A3EA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782F6-2BA5-45C6-8BD7-0DD715C4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DEA17-DAE2-46FA-BCDC-90B1A82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00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存在可执行纪律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2467F-4B73-41AA-A7E6-C6F6755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05325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建仓、暂停、减仓和失效条件都有阈值，降低情绪决策。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67DBB-1FE2-41B3-ADE9-3E49AB94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D0D5F-6A7E-441A-9328-1F7D7696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83C8C-8189-461A-A135-7EB5D87A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保留上涨参与度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2A54E-7A63-4DD9-AB4D-4FA32353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05325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宽基和科技保留Beta，同时用红利、黄金、固收降低单一风格依赖。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2634F-363D-490A-89E6-1AE4F5C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失效条件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67064-7293-4139-AF0F-621FD736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245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跨资产同时暴跌、纪律不执行、科技仓突破上限、使用杠杆——任何一项都会破坏方案。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00999-557F-4416-803C-26BA6DF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94991-7E90-4832-AC3B-5B6B660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5230015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5B4F6-2635-4C3D-8C3E-45AB1C6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历史证据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A9630-575D-4EDB-A642-8524B63C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历史回测：组合少赚一点，但把最深回撤压到约8%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468FC-F459-4151-954C-E7B366F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BBBC-6BC5-47F7-BC27-815792A9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600200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56db02a8de407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90D16-8D6E-4994-93F9-359A8A42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资金（万元）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979B2-0482-41EB-872B-AE5D4A80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095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6C429-D522-4439-9D9C-237E53D9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本方案组合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C1702-DCA0-4DA8-AA41-35209ECA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134.2万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61BE1-86BD-4E55-BEBF-C3B185AC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193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累计 +34.2%｜最大回撤 -8.1%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17651-74B4-47A7-BF8F-66418D45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3095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3D365-EDAA-48CD-A0F5-8EC591A6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9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沪深300 ETF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8EB7B-7D21-4DB1-A611-5A625BC6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57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142.2万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49768-D8BD-466C-8A1C-2EB2F63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累计 +42.2%｜最大回撤 -17.1%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0543C-2CA3-4A6A-BE56-AAC5064E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3095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8DCCF-C34F-420A-9065-A059B347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29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科创50 ETF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ACBEB-4802-4200-B7A9-0F32253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242.0万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026BF-848D-4D0B-B340-C32029F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577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累计 +142.0%｜最大回撤 -22.9%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F1524-5170-4CC9-9BEC-FA9F4435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它不是收益第一名，但最大回撤仅为沪深300约一半，更接近“能长期拿住”的家庭组合。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CD03F-5EA7-40A4-BB50-D0A35307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B317F-07AB-4AEF-8777-13CA05F0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Vibe Trading 回测；Tushare行情、腾讯行情交叉核验；区间2024-06-27—2026-07-20；100万元起始、目标权重买入持有、费率0.1%。</a:t>
            </a:r>
          </a:p>
        </p:txBody>
      </p:sp>
    </p:spTree>
    <p:extLst>
      <p:ext uri="{BB962C8B-B14F-4D97-AF65-F5344CB8AC3E}">
        <p14:creationId xmlns:p14="http://schemas.microsoft.com/office/powerpoint/2010/main" val="6347735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63A20-90A8-4043-B55B-FEEBA434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给家里看的结论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D1AB7-3E2A-4D70-83A1-5117C115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历史比压力测试温和，所以20%风险上限不能放松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0E604-5AC3-4AC6-B858-84CAFCF9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13519-30D3-4163-92BD-1DF86A4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B343C-95A0-44C9-BE7E-C1A93E7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27707-D070-46C1-AB89-04D69312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-8.1%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166BE-8461-4341-974D-4599D8E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历史最大回撤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29392-7B72-4F59-87C4-EBE3CA2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从135.3万回落到124.4万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E8C36-AB3D-4B60-A113-7AE7052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D4133-D4A7-4C29-9156-3841EE4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97.1万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ADC35-52D6-4CDF-9FB4-6F7C4DCF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从100万出发的最低值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0E49B-24BC-481D-A373-A78D307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发生在2024年9月13日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869A2-6848-4959-A277-162BB54B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7A028-7083-4CAC-A82E-9EAF5BD8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97天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F98F8-0631-4BA2-9FED-9C2724C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最大回撤恢复时间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51AF5-AE40-4C34-88A7-986530D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2026年1月29日至5月6日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91F65-77E5-4D14-B0EF-5A9F9D34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1038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E8DC5-13E1-4F57-9AFA-2BF6532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给家人的一句话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21D74-33A3-4399-8CBF-D30FA6CB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这套方案不是为了让100万元最快变成200万元，而是尽量避免先跌成70万元，导致我们在最难受时卖出。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D8B64-773C-494F-9287-7CF25C63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48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为什么仍要保守？样本只有约2年；ETF分红、税费、申赎和未来调仓偏差未完全计入，历史收益不等于未来收益。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C72C8-1D55-4E34-8B54-C0C9E683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40835-5A72-4ADA-B91A-632E0F77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对照提示：科创50同期收益更高，但最大回撤22.9%，截至2026-07-20其最近一次深跌尚未完全收复。</a:t>
            </a:r>
          </a:p>
        </p:txBody>
      </p:sp>
    </p:spTree>
    <p:extLst>
      <p:ext uri="{BB962C8B-B14F-4D97-AF65-F5344CB8AC3E}">
        <p14:creationId xmlns:p14="http://schemas.microsoft.com/office/powerpoint/2010/main" val="986085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D8715-AA2D-4330-9F80-BD8BE30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现在的正确动作，不是猜底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4E3F4-D4A6-47C0-B120-A9420725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E90F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E90FA"/>
                </a:solidFill>
                <a:latin typeface="PingFang SC"/>
                <a:ea typeface="PingFang SC"/>
                <a:cs typeface="PingFang SC"/>
              </a:rPr>
              <a:t>而是按风险预算执行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57B1B-96CE-4803-997D-74F93419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91AD4-8397-4837-AEE9-161BCA3F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现在可以做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4AA83-0BFB-4B9C-97DF-F4CC667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5F3C-EEDF-4FD1-9430-E34AD82B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保留已买3万元沪深300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2F6D-8DC6-4216-8B99-35DA3B0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FA67A-3619-41B3-B602-A3E6B199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现金/货币与短债先落地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A9F17-3F2C-4748-989D-6912E2A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9E06C-F213-44FA-96AF-968644EA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科技首阶段最多3万元，分两次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41667-8412-4C37-8002-FE10B7D2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暂时不要做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96CBD-09AE-4AFF-BB54-1942C063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DFF0F-BDF9-4A8C-A726-3C132974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527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不追涨半导体设备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46E9D-5A44-4666-9CC7-42F35AB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5000A-4CB9-4F65-B62A-42040698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23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不一次性买满15万元科技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2674A-7417-4E22-AB64-2B010E48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5BC99-0449-471D-A93C-630739F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719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不融资、不用杠杆ETF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DB84A-1C15-4347-864F-E050EA1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下一次决策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0F324-2A4E-4090-877F-90F5B6A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B654C-4155-46FC-A30B-B32745E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27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观察2—3日市场广度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4C42C-7BE3-40BD-B373-DAD23856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44A82-AE67-4510-A159-5D2B6CEF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确认融资余额和高Beta企稳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9A838-FA74-4319-B408-A4028A2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11A80-B9BB-44D3-BAE1-C9451A58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719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7月27日后检验资金分流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37510-BDF6-483E-9718-C6F2762E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6E336-5329-4E29-95A5-33650E1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23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核心原则：收益来自承担风险；长期结果来自控制承担多少风险，以及何时停止。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AD59B-D32B-48A9-A18C-8A4A27E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本材料用于投资研究与风险管理，不构成收益保证或持牌投资顾问意见。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A079A-81B2-463C-9466-D93F58C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2026-07-21</a:t>
            </a:r>
          </a:p>
        </p:txBody>
      </p:sp>
    </p:spTree>
    <p:extLst>
      <p:ext uri="{BB962C8B-B14F-4D97-AF65-F5344CB8AC3E}">
        <p14:creationId xmlns:p14="http://schemas.microsoft.com/office/powerpoint/2010/main" val="913638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2026-07-21T08:59:31.3130000Z</dcterms:created>
  <dcterms:modified xsi:type="dcterms:W3CDTF">2026-07-21T08:59:31.3130000Z</dcterms:modified>
</coreProperties>
</file>