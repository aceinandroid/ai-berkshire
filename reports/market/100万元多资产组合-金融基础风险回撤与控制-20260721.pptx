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29a13d5d934a45" /><Relationship Type="http://schemas.openxmlformats.org/officeDocument/2006/relationships/extended-properties" Target="/docProps/app.xml" Id="R2252a797b6d84ba6" /><Relationship Type="http://schemas.openxmlformats.org/officeDocument/2006/relationships/officeDocument" Target="/ppt/presentation.xml" Id="R7ff3967c0c1846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bf57a46fbb47d3"/>
  </p:sldMasterIdLst>
  <p:notesMasterIdLst>
    <p:notesMasterId xmlns:r="http://schemas.openxmlformats.org/officeDocument/2006/relationships" r:id="R70a23ebdeb0f4f58"/>
  </p:notesMasterIdLst>
  <p:sldIdLst>
    <p:sldId xmlns:r="http://schemas.openxmlformats.org/officeDocument/2006/relationships" id="256" r:id="R38d48a2f671e4efa"/>
    <p:sldId xmlns:r="http://schemas.openxmlformats.org/officeDocument/2006/relationships" id="257" r:id="R9dc0c6f7c9e94ef0"/>
    <p:sldId xmlns:r="http://schemas.openxmlformats.org/officeDocument/2006/relationships" id="258" r:id="Rc4d11566c4074c24"/>
    <p:sldId xmlns:r="http://schemas.openxmlformats.org/officeDocument/2006/relationships" id="259" r:id="Raec38df757ef4618"/>
    <p:sldId xmlns:r="http://schemas.openxmlformats.org/officeDocument/2006/relationships" id="260" r:id="R3903c91e5b1d498f"/>
    <p:sldId xmlns:r="http://schemas.openxmlformats.org/officeDocument/2006/relationships" id="261" r:id="R6420b2c3ce1b47b7"/>
    <p:sldId xmlns:r="http://schemas.openxmlformats.org/officeDocument/2006/relationships" id="262" r:id="R0b6cca388f554d9b"/>
    <p:sldId xmlns:r="http://schemas.openxmlformats.org/officeDocument/2006/relationships" id="263" r:id="R887761ee04434b44"/>
    <p:sldId xmlns:r="http://schemas.openxmlformats.org/officeDocument/2006/relationships" id="264" r:id="Rab19536b4f8c4bcf"/>
    <p:sldId xmlns:r="http://schemas.openxmlformats.org/officeDocument/2006/relationships" id="265" r:id="R1d3f99b3e63842cc"/>
    <p:sldId xmlns:r="http://schemas.openxmlformats.org/officeDocument/2006/relationships" id="266" r:id="R429db5eceda74118"/>
    <p:sldId xmlns:r="http://schemas.openxmlformats.org/officeDocument/2006/relationships" id="267" r:id="R6d73e1e0bbcb4c60"/>
    <p:sldId xmlns:r="http://schemas.openxmlformats.org/officeDocument/2006/relationships" id="268" r:id="Rd8356f25f34b4f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1b2a1debe94800" /><Relationship Type="http://schemas.openxmlformats.org/officeDocument/2006/relationships/slideMaster" Target="/ppt/slideMasters/slideMaster1.xml" Id="Rbfbf57a46fbb47d3" /><Relationship Type="http://schemas.openxmlformats.org/officeDocument/2006/relationships/notesMaster" Target="/ppt/notesMasters/notesMaster1.xml" Id="R70a23ebdeb0f4f58" /><Relationship Type="http://schemas.openxmlformats.org/officeDocument/2006/relationships/presProps" Target="/ppt/presProps.xml" Id="Raaceb953c3b244f7" /><Relationship Type="http://schemas.openxmlformats.org/officeDocument/2006/relationships/tableStyles" Target="/ppt/tableStyles.xml" Id="Rf98cf554fb47409c" /><Relationship Type="http://schemas.openxmlformats.org/officeDocument/2006/relationships/slide" Target="/ppt/slides/slide1.xml" Id="R38d48a2f671e4efa" /><Relationship Type="http://schemas.openxmlformats.org/officeDocument/2006/relationships/slide" Target="/ppt/slides/slide2.xml" Id="R9dc0c6f7c9e94ef0" /><Relationship Type="http://schemas.openxmlformats.org/officeDocument/2006/relationships/slide" Target="/ppt/slides/slide3.xml" Id="Rc4d11566c4074c24" /><Relationship Type="http://schemas.openxmlformats.org/officeDocument/2006/relationships/slide" Target="/ppt/slides/slide4.xml" Id="Raec38df757ef4618" /><Relationship Type="http://schemas.openxmlformats.org/officeDocument/2006/relationships/slide" Target="/ppt/slides/slide5.xml" Id="R3903c91e5b1d498f" /><Relationship Type="http://schemas.openxmlformats.org/officeDocument/2006/relationships/slide" Target="/ppt/slides/slide6.xml" Id="R6420b2c3ce1b47b7" /><Relationship Type="http://schemas.openxmlformats.org/officeDocument/2006/relationships/slide" Target="/ppt/slides/slide7.xml" Id="R0b6cca388f554d9b" /><Relationship Type="http://schemas.openxmlformats.org/officeDocument/2006/relationships/slide" Target="/ppt/slides/slide8.xml" Id="R887761ee04434b44" /><Relationship Type="http://schemas.openxmlformats.org/officeDocument/2006/relationships/slide" Target="/ppt/slides/slide9.xml" Id="Rab19536b4f8c4bcf" /><Relationship Type="http://schemas.openxmlformats.org/officeDocument/2006/relationships/slide" Target="/ppt/slides/slide10.xml" Id="R1d3f99b3e63842cc" /><Relationship Type="http://schemas.openxmlformats.org/officeDocument/2006/relationships/slide" Target="/ppt/slides/slide11.xml" Id="R429db5eceda74118" /><Relationship Type="http://schemas.openxmlformats.org/officeDocument/2006/relationships/slide" Target="/ppt/slides/slide12.xml" Id="R6d73e1e0bbcb4c60" /><Relationship Type="http://schemas.openxmlformats.org/officeDocument/2006/relationships/slide" Target="/ppt/slides/slide13.xml" Id="Rd8356f25f34b4f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2a24beacb240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c68db884af4b80" /><Relationship Type="http://schemas.openxmlformats.org/officeDocument/2006/relationships/notesMaster" Target="/ppt/notesMasters/notesMaster1.xml" Id="R4d758c6b7e4341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cd1f4f06ec476d" /><Relationship Type="http://schemas.openxmlformats.org/officeDocument/2006/relationships/notesMaster" Target="/ppt/notesMasters/notesMaster1.xml" Id="R8c9e380a03c941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d003413aad4055" /><Relationship Type="http://schemas.openxmlformats.org/officeDocument/2006/relationships/notesMaster" Target="/ppt/notesMasters/notesMaster1.xml" Id="Rf28b2eeefbfe49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30f22c0e614e44" /><Relationship Type="http://schemas.openxmlformats.org/officeDocument/2006/relationships/notesMaster" Target="/ppt/notesMasters/notesMaster1.xml" Id="Ree14315739d94d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d362b6e7a34ed9" /><Relationship Type="http://schemas.openxmlformats.org/officeDocument/2006/relationships/notesMaster" Target="/ppt/notesMasters/notesMaster1.xml" Id="R76c763f4c48244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aa06df1e6b4bbc" /><Relationship Type="http://schemas.openxmlformats.org/officeDocument/2006/relationships/notesMaster" Target="/ppt/notesMasters/notesMaster1.xml" Id="R8278fe18d68044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6450a546e74eaa" /><Relationship Type="http://schemas.openxmlformats.org/officeDocument/2006/relationships/notesMaster" Target="/ppt/notesMasters/notesMaster1.xml" Id="R0eb0ec58bf714f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f92b2ce8b04bbb" /><Relationship Type="http://schemas.openxmlformats.org/officeDocument/2006/relationships/notesMaster" Target="/ppt/notesMasters/notesMaster1.xml" Id="R6036d19444ba4a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0103184ed149b4" /><Relationship Type="http://schemas.openxmlformats.org/officeDocument/2006/relationships/notesMaster" Target="/ppt/notesMasters/notesMaster1.xml" Id="R5b52eeb1eb4346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46e0abe99144ae" /><Relationship Type="http://schemas.openxmlformats.org/officeDocument/2006/relationships/notesMaster" Target="/ppt/notesMasters/notesMaster1.xml" Id="R8c835568cced4e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a451a385064c48" /><Relationship Type="http://schemas.openxmlformats.org/officeDocument/2006/relationships/notesMaster" Target="/ppt/notesMasters/notesMaster1.xml" Id="R0a34a717489040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3dd20f2e574738" /><Relationship Type="http://schemas.openxmlformats.org/officeDocument/2006/relationships/notesMaster" Target="/ppt/notesMasters/notesMaster1.xml" Id="R7f90a56f371b4d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c0d84ad6654f76" /><Relationship Type="http://schemas.openxmlformats.org/officeDocument/2006/relationships/notesMaster" Target="/ppt/notesMasters/notesMaster1.xml" Id="Raa2b3a3d7bf345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b17ad98a754c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d2171ad57049f9" /><Relationship Type="http://schemas.openxmlformats.org/officeDocument/2006/relationships/slideLayout" Target="/ppt/slideLayouts/slideLayout1.xml" Id="R2f164829237941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164829237941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575314cd54494" /><Relationship Type="http://schemas.openxmlformats.org/officeDocument/2006/relationships/notesSlide" Target="/ppt/notesSlides/notesSlide1.xml" Id="R67f1ed5f073c4f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ffaa15ed44499" /><Relationship Type="http://schemas.openxmlformats.org/officeDocument/2006/relationships/notesSlide" Target="/ppt/notesSlides/notesSlide2.xml" Id="Rd682174caa724c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ba25bd247494e" /><Relationship Type="http://schemas.openxmlformats.org/officeDocument/2006/relationships/chart" Target="/ppt/slides/charts/chart1.xml" Id="Rcd4f5374f4e7417b" /><Relationship Type="http://schemas.openxmlformats.org/officeDocument/2006/relationships/notesSlide" Target="/ppt/notesSlides/notesSlide3.xml" Id="R100bb69c281745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570b9be7e4733" /><Relationship Type="http://schemas.openxmlformats.org/officeDocument/2006/relationships/chart" Target="/ppt/slides/charts/chart2.xml" Id="R7ab6bc6aca3f4fd6" /><Relationship Type="http://schemas.openxmlformats.org/officeDocument/2006/relationships/notesSlide" Target="/ppt/notesSlides/notesSlide4.xml" Id="Rf4812029cc924b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318658fe94351" /><Relationship Type="http://schemas.openxmlformats.org/officeDocument/2006/relationships/notesSlide" Target="/ppt/notesSlides/notesSlide5.xml" Id="R8f1bfe3c4edb48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eb17d98e749a6" /><Relationship Type="http://schemas.openxmlformats.org/officeDocument/2006/relationships/notesSlide" Target="/ppt/notesSlides/notesSlide6.xml" Id="Rc650263db38f46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9649d40b34f29" /><Relationship Type="http://schemas.openxmlformats.org/officeDocument/2006/relationships/chart" Target="/ppt/slides/charts/chart3.xml" Id="R628a5ea799464c14" /><Relationship Type="http://schemas.openxmlformats.org/officeDocument/2006/relationships/notesSlide" Target="/ppt/notesSlides/notesSlide7.xml" Id="R72b37025406d4a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bec3138084b92" /><Relationship Type="http://schemas.openxmlformats.org/officeDocument/2006/relationships/notesSlide" Target="/ppt/notesSlides/notesSlide8.xml" Id="R6ffccad1c5204a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db692d7bd4dfb" /><Relationship Type="http://schemas.openxmlformats.org/officeDocument/2006/relationships/notesSlide" Target="/ppt/notesSlides/notesSlide9.xml" Id="R1080b4d29f3147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777d07eb54a7d" /><Relationship Type="http://schemas.openxmlformats.org/officeDocument/2006/relationships/notesSlide" Target="/ppt/notesSlides/notesSlide10.xml" Id="Rbe2e2a8a752743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73dab636b404c" /><Relationship Type="http://schemas.openxmlformats.org/officeDocument/2006/relationships/notesSlide" Target="/ppt/notesSlides/notesSlide11.xml" Id="R671e0869bf0446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014f684a242cf" /><Relationship Type="http://schemas.openxmlformats.org/officeDocument/2006/relationships/notesSlide" Target="/ppt/notesSlides/notesSlide12.xml" Id="Ra7f39a697efa48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e346e53344183" /><Relationship Type="http://schemas.openxmlformats.org/officeDocument/2006/relationships/notesSlide" Target="/ppt/notesSlides/notesSlide13.xml" Id="Ra97b2b46593b484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回到原点所需涨幅</c:v>
          </c:tx>
          <c:spPr>
            <a:solidFill xmlns:a="http://schemas.openxmlformats.org/drawingml/2006/main">
              <a:srgbClr val="1570EF"/>
            </a:solidFill>
          </c:spPr>
          <c:dPt>
            <c:idx val="3"/>
            <c:spPr>
              <a:solidFill xmlns:a="http://schemas.openxmlformats.org/drawingml/2006/main">
                <a:srgbClr val="F79009"/>
              </a:solidFill>
            </c:spPr>
          </c:dPt>
          <c:dPt>
            <c:idx val="4"/>
            <c:spPr>
              <a:solidFill xmlns:a="http://schemas.openxmlformats.org/drawingml/2006/main">
                <a:srgbClr val="F04438"/>
              </a:solidFill>
            </c:spPr>
          </c:dPt>
          <c:cat>
            <c:strLit>
              <c:ptCount val="5"/>
              <c:pt idx="0">
                <c:v>回撤5%</c:v>
              </c:pt>
              <c:pt idx="1">
                <c:v>回撤10%</c:v>
              </c:pt>
              <c:pt idx="2">
                <c:v>回撤15%</c:v>
              </c:pt>
              <c:pt idx="3">
                <c:v>回撤20%</c:v>
              </c:pt>
              <c:pt idx="4">
                <c:v>回撤30%</c:v>
              </c:pt>
            </c:strLit>
          </c:cat>
          <c:val>
            <c:numLit>
              <c:formatCode>General</c:formatCode>
              <c:ptCount val="5"/>
              <c:pt idx="0">
                <c:v>0.053</c:v>
              </c:pt>
              <c:pt idx="1">
                <c:v>0.111</c:v>
              </c:pt>
              <c:pt idx="2">
                <c:v>0.176</c:v>
              </c:pt>
              <c:pt idx="3">
                <c:v>0.25</c:v>
              </c:pt>
              <c:pt idx="4">
                <c:v>0.429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8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0D5DD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1828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目标比例</c:v>
          </c:tx>
          <c:dPt>
            <c:idx val="0"/>
            <c:spPr>
              <a:solidFill xmlns:a="http://schemas.openxmlformats.org/drawingml/2006/main">
                <a:srgbClr val="98A2B3"/>
              </a:solidFill>
            </c:spPr>
          </c:dPt>
          <c:dPt>
            <c:idx val="1"/>
            <c:spPr>
              <a:solidFill xmlns:a="http://schemas.openxmlformats.org/drawingml/2006/main">
                <a:srgbClr val="667085"/>
              </a:solidFill>
            </c:spPr>
          </c:dPt>
          <c:dPt>
            <c:idx val="2"/>
            <c:spPr>
              <a:solidFill xmlns:a="http://schemas.openxmlformats.org/drawingml/2006/main">
                <a:srgbClr val="F79009"/>
              </a:solidFill>
            </c:spPr>
          </c:dPt>
          <c:dPt>
            <c:idx val="3"/>
            <c:spPr>
              <a:solidFill xmlns:a="http://schemas.openxmlformats.org/drawingml/2006/main">
                <a:srgbClr val="12B76A"/>
              </a:solidFill>
            </c:spPr>
          </c:dPt>
          <c:dPt>
            <c:idx val="4"/>
            <c:spPr>
              <a:solidFill xmlns:a="http://schemas.openxmlformats.org/drawingml/2006/main">
                <a:srgbClr val="1570EF"/>
              </a:solidFill>
            </c:spPr>
          </c:dPt>
          <c:dPt>
            <c:idx val="5"/>
            <c:spPr>
              <a:solidFill xmlns:a="http://schemas.openxmlformats.org/drawingml/2006/main">
                <a:srgbClr val="7F56D9"/>
              </a:solidFill>
            </c:spPr>
          </c:dPt>
          <c:cat>
            <c:strLit>
              <c:ptCount val="6"/>
              <c:pt idx="0">
                <c:v>现金/货币</c:v>
              </c:pt>
              <c:pt idx="1">
                <c:v>短债/国债</c:v>
              </c:pt>
              <c:pt idx="2">
                <c:v>黄金</c:v>
              </c:pt>
              <c:pt idx="3">
                <c:v>红利低波</c:v>
              </c:pt>
              <c:pt idx="4">
                <c:v>沪深300/A500</c:v>
              </c:pt>
              <c:pt idx="5">
                <c:v>科技ETF</c:v>
              </c:pt>
            </c:strLit>
          </c:cat>
          <c:val>
            <c:numLit>
              <c:formatCode>General</c:formatCode>
              <c:ptCount val="6"/>
              <c:pt idx="0">
                <c:v>30</c:v>
              </c:pt>
              <c:pt idx="1">
                <c:v>20</c:v>
              </c:pt>
              <c:pt idx="2">
                <c:v>8</c:v>
              </c:pt>
              <c:pt idx="3">
                <c:v>15</c:v>
              </c:pt>
              <c:pt idx="4">
                <c:v>12</c:v>
              </c:pt>
              <c:pt idx="5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1828"/>
                  </a:solidFill>
                </a:defRPr>
              </a:pPr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270"/>
        <c:holeSize val="60"/>
      </c:doughnutChart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对组合回撤贡献</c:v>
          </c:tx>
          <c:spPr>
            <a:solidFill xmlns:a="http://schemas.openxmlformats.org/drawingml/2006/main">
              <a:srgbClr val="F04438"/>
            </a:solidFill>
          </c:spPr>
          <c:invertIfNegative val="0"/>
          <c:dPt>
            <c:idx val="0"/>
            <c:spPr>
              <a:solidFill xmlns:a="http://schemas.openxmlformats.org/drawingml/2006/main">
                <a:srgbClr val="7F56D9"/>
              </a:solidFill>
            </c:spPr>
          </c:dPt>
          <c:dPt>
            <c:idx val="1"/>
            <c:spPr>
              <a:solidFill xmlns:a="http://schemas.openxmlformats.org/drawingml/2006/main">
                <a:srgbClr val="1570EF"/>
              </a:solidFill>
            </c:spPr>
          </c:dPt>
          <c:dPt>
            <c:idx val="2"/>
            <c:spPr>
              <a:solidFill xmlns:a="http://schemas.openxmlformats.org/drawingml/2006/main">
                <a:srgbClr val="F79009"/>
              </a:solidFill>
            </c:spPr>
          </c:dPt>
          <c:dPt>
            <c:idx val="3"/>
            <c:spPr>
              <a:solidFill xmlns:a="http://schemas.openxmlformats.org/drawingml/2006/main">
                <a:srgbClr val="667085"/>
              </a:solidFill>
            </c:spPr>
          </c:dPt>
          <c:dPt>
            <c:idx val="4"/>
            <c:spPr>
              <a:solidFill xmlns:a="http://schemas.openxmlformats.org/drawingml/2006/main">
                <a:srgbClr val="D0D5DD"/>
              </a:solidFill>
            </c:spPr>
          </c:dPt>
          <c:cat>
            <c:strLit>
              <c:ptCount val="5"/>
              <c:pt idx="0">
                <c:v>科技ETF</c:v>
              </c:pt>
              <c:pt idx="1">
                <c:v>其他权益</c:v>
              </c:pt>
              <c:pt idx="2">
                <c:v>黄金</c:v>
              </c:pt>
              <c:pt idx="3">
                <c:v>固收</c:v>
              </c:pt>
              <c:pt idx="4">
                <c:v>现金</c:v>
              </c:pt>
            </c:strLit>
          </c:cat>
          <c:val>
            <c:numLit>
              <c:formatCode>General</c:formatCode>
              <c:ptCount val="5"/>
              <c:pt idx="0">
                <c:v>-0.0525</c:v>
              </c:pt>
              <c:pt idx="1">
                <c:v>-0.0675</c:v>
              </c:pt>
              <c:pt idx="2">
                <c:v>-0.012</c:v>
              </c:pt>
              <c:pt idx="3">
                <c:v>-0.006</c:v>
              </c:pt>
              <c:pt idx="4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8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0D5DD"/>
              </a:solidFill>
              <a:prstDash val="solid"/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828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8F8D80-9FE0-4EA7-8528-80C2F806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E649B-80CC-400B-8C12-4EB322B4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50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100万元多资产组合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9EF67-FB88-4AD5-BF49-08B2B271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金融基础、风险回撤与控制方法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DF3FA-0F7C-408C-B2BB-7F0BEBDC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47950"/>
            <a:ext cx="666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目标不是预测每一次涨跌，而是在可承受的回撤内持续参与市场 Beta。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1B9F7-4902-4373-A7B5-346E542F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81050"/>
            <a:ext cx="3429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69CFB-B95D-47C9-A5D7-A4D393CA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143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组合约束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D23D4-1420-466E-B61D-6D44365D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≤20%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C11F1-A1C5-4D9D-ABCA-91EF71EA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最大可接受回撤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C15EC-2989-450C-9F70-99BCA7A8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574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在16%—18%前主动降风险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439F1-B43F-4CEE-91A3-DE4C4C71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42%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3C31E-5723-4205-A23E-54133099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624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权益风险预算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1922B-C83C-4A74-823B-6C3204D6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957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核心Beta 12% + 科技Beta 15% + 红利15%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4454A-3BA4-4DBF-8C3F-36301FD2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适用范围：100万元人民币资产池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不含约10万元人民币的美股账户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53CC8-4E64-40E8-85EF-321F87B1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53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2026年7月21日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228E1-4007-4ED0-BADD-1C2261E6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153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AI Berkshire × Vibe Trading</a:t>
            </a:r>
          </a:p>
        </p:txBody>
      </p:sp>
    </p:spTree>
    <p:extLst>
      <p:ext uri="{BB962C8B-B14F-4D97-AF65-F5344CB8AC3E}">
        <p14:creationId xmlns:p14="http://schemas.microsoft.com/office/powerpoint/2010/main" val="6951703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83DA38-8531-41FD-92E3-4D63A02F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金融基本知识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AD1F9-68A7-474B-86D1-D3F59B11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投资的三角约束：收益、风险与流动性不能同时最大化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D9B68-D55F-44E7-8FF2-8845B255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AC27F-AA7D-40AF-A4BD-993FAAA6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800B4-B336-4D05-B86A-150DEC70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0F9E1-DBB8-4D37-A7EF-5487B236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收益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24BDE-7D52-436A-AD97-8602C99E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来自利息、股息、企业盈利增长和估值变化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64850-CF56-4622-9C06-200FD09C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目标：获取合理回报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49C52-F7B3-4ECB-B07D-1C16E8F6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3355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B405C-3718-4758-A1E0-5235DA64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383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风险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617663-3B3F-4042-AC8F-45F08D01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波动只是表面；永久损失、被迫卖出和集中暴露更危险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B69E5-0E6C-4B75-81B6-25A3AC70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05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约束：回撤不超过20%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E4DAA-92ED-4A15-A681-DB8F9A02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3355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54B82-C1D1-4D88-9ABA-3CE30E58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383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流动性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AE915-A1B0-4683-B9FC-2D203FD1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现金让计划能够执行，也避免在最坏时刻被迫卖出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B2270-CA8B-437B-A9B0-9BF17C00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05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作用：保留选择权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65554-BC39-4E44-857F-4D640B3D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本方案的取舍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F3D7C5-FF0B-419A-A026-065930CC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不追求最高收益率，而是用58%的防御资产换取“不会在坏时点被迫退出”的生存能力。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78F254-C44B-4C99-A3EA-3629D53F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1D86BD-494A-4B71-9DF9-A1F22E1A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055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资料来源：100万元多资产组合执行计划（2026-07-20/21）；情景为风险预算假设，不是收益承诺。</a:t>
            </a:r>
          </a:p>
        </p:txBody>
      </p:sp>
    </p:spTree>
    <p:extLst>
      <p:ext uri="{BB962C8B-B14F-4D97-AF65-F5344CB8AC3E}">
        <p14:creationId xmlns:p14="http://schemas.microsoft.com/office/powerpoint/2010/main" val="20238648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CA427-A236-4A7D-AD29-649F9D6B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金融基本知识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90416-B490-400D-8187-8DE7F0B4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亏损具有非对称性：回撤越深，恢复成本越陡峭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AC752-3D2B-4C76-B47C-70AD53DD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5110F-95E2-4300-A6B4-C1869281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723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4f5374f4e7417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C1C52-FB84-4E9B-BBC4-B2BCE1B9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240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20%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3D868-CEBB-4F5D-B766-84488D30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回撤后，需要上涨25%才能回本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2622A-7E62-462E-BF6E-E059CCD9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2476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这就是为什么风险控制必须在达到上限之前启动，而不是等亏损已经发生。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584FD-DB17-490B-97B1-5BFC29A7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95875"/>
            <a:ext cx="23812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9E1B3-3438-4FD5-A3F2-7CB51543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149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先活下来，再谈收益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1C216E-BC31-43DC-9CB0-AD33D225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CDFFF-06AD-4C4C-9404-670EC507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055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数学关系：回本涨幅 = 1 ÷（1－回撤率）－1。</a:t>
            </a:r>
          </a:p>
        </p:txBody>
      </p:sp>
    </p:spTree>
    <p:extLst>
      <p:ext uri="{BB962C8B-B14F-4D97-AF65-F5344CB8AC3E}">
        <p14:creationId xmlns:p14="http://schemas.microsoft.com/office/powerpoint/2010/main" val="2410044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99E713-7567-49FB-BC8B-6F29F24C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组合结构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25583-EF24-4F42-B9B0-4AEA58A4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六类资产各司其职，组合不是六个独立赌注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85CC7-6894-4929-940C-E537C6E5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EC0BC-A262-4D54-BC97-1F850372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37" name="Chart"/>
          <p:cNvGraphicFramePr/>
          <p:nvPr/>
        </p:nvGraphicFramePr>
        <p:xfrm>
          <a:off xmlns:a="http://schemas.openxmlformats.org/drawingml/2006/main" x="523875" y="1428750"/>
          <a:ext xmlns:a="http://schemas.openxmlformats.org/drawingml/2006/main" cx="542925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b6bc6aca3f4fd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D22DC-01DC-44FC-83C9-F867D859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6210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382D4-8B17-4C39-860B-6779F809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621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7C86B-4060-448E-AAB8-0721BF3C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38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现金 30%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7E59F-D978-4C21-9D29-649AB298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3830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流动性与加仓弹药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A6F0D-9F51-4A93-A3FE-3897955E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68547-C091-40A8-8124-A3F6B911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C6073-3A66-4C55-8C55-B358E292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24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短债 20%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25AC1-D090-4C98-ADFF-B489F8C1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稳定净值与票息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FBE0B-4A09-4432-975E-11F4AB44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3370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611FB-4116-458C-BF94-40702F0F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337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2ABF90-35AD-495E-85B8-C3880A91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99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黄金 8%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BC6FA4-A534-4BD2-8F2E-758F23B7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990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尾部风险与货币对冲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D19F3D-017B-49C5-98B3-D5294F63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E594B7-AA13-493B-9E72-79A86547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A98AF-5766-46E6-8D69-960E0386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95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红利 15%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714A62-FD64-4813-ACCA-E8643579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9570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防御型权益与股息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7267B0-1A86-4196-BFCC-CBAE1457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0530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91E381-2ECE-478D-BDAA-0CFAD6A6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053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997B8D-FBA1-4443-91AB-B629E76F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81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核心宽基 12%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522143-393B-437C-8A61-5CE71A27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8150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A股核心 Beta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5AB10C-83AE-45BA-968B-09893391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9110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78D7C8-4367-4514-9D66-32891754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911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44AAC9-F874-404F-8ABA-E011DAEF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67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科技 15%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2B9C0C-1A58-40F8-A908-B1B07FEF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6730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高弹性卫星 Beta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58EE26-E182-47D8-8CDC-D6DCEA93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912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1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核心逻辑：现金和固收负责“活下来”，宽基与科技负责“参与上涨”。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70EBD7-428A-44E8-96E2-D1E3FAC6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368701-E1F1-452F-8DB8-229A6DCB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055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资料来源：100万元多资产组合执行计划（2026-07-20/21）；情景为风险预算假设，不是收益承诺。</a:t>
            </a:r>
          </a:p>
        </p:txBody>
      </p:sp>
    </p:spTree>
    <p:extLst>
      <p:ext uri="{BB962C8B-B14F-4D97-AF65-F5344CB8AC3E}">
        <p14:creationId xmlns:p14="http://schemas.microsoft.com/office/powerpoint/2010/main" val="16912261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E89A26-CE5D-4573-B4DA-567EB73A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组合结构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D402C-9840-4A4E-9821-8BC04BC6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58%的防御资产，为42%的权益风险预算提供缓冲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7F9AB-C3E1-45F2-B1CE-F45B275B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EB0D3-F31E-4219-9F08-888667FE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CAE80-F2E4-4E92-9CC2-88D1774E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目标配置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DA1EB-13F2-4D22-ADFC-76BB7335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7600A-041F-4BA0-A6CE-5C26AF56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596646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3849F-FDE9-4C68-84A9-803ACCEE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3210" y="2095500"/>
            <a:ext cx="432054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09032-6CC3-4F74-98A1-FE0809F4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50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防御与对冲 58%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C5129-0009-48D3-BAFC-389294B7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权益 Beta 42%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41FA9-9075-4459-83B9-ED412A3B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现金/货币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AAE15-D448-4BBA-83CE-90E56BD8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909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80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30%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27684-2073-472F-9B09-8F3A81E7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04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不承担方向风险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33A64-A1D5-4D48-B95F-80726844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DC55F-CF7F-4488-9961-37E142D2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短债/国债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4E016-2737-4985-BE9E-4FCF66BA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133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80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20%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68A65B-D904-48BE-BF12-9CDA48E4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433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降低波动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FF5D9D-8261-44EC-BD37-6569D95A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D2D4EF-FD8C-4211-A0D2-4DE06CCE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黄金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B731AA-D68B-42B0-A5B4-37B3C9F3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876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80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8%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8E24E1-F00F-4174-BAC4-247F7F3C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863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分散尾部风险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EDE1A2-DB6A-4439-89CD-967B73D4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C01E7B-2603-4259-A6A2-68DE8C35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90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红利低波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C556A5-A811-474D-9A4D-2CF8F94D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909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80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15%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88CA82-2562-4AA5-A7BA-5974E156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权益防御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82ADD9-ACAA-44EE-A125-5479D060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290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6870A4-8F7E-45E2-8840-5712DC88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3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宽基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E75D50-4D1A-4A6F-AF5F-8056ECC9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133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80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12%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8DC28A-D048-40D3-BF15-69B285DA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433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核心市场收益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A34E30-7FF0-4890-923A-B248DF0C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720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9F0351-9AFE-4374-9437-1874AAE9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76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科技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2D4640-FFE4-48EB-8666-C838FB8B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876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80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15%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5B6176-3BEF-415C-8E14-D5CF4CC0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863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高弹性收益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A0D2F9-42FF-4326-889B-36F6E3C0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3149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FAE413-9F5A-4D8C-979B-FB09248D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组合不是低风险产品；它是“权益参与度适中、回撤预算明确”的中等风险方案。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E144FD-50FC-40A3-9806-45DD4612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544E5F-08AC-4ECD-ADAF-8EB940EF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055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资料来源：100万元多资产组合执行计划（2026-07-20/21）；情景为风险预算假设，不是收益承诺。</a:t>
            </a:r>
          </a:p>
        </p:txBody>
      </p:sp>
    </p:spTree>
    <p:extLst>
      <p:ext uri="{BB962C8B-B14F-4D97-AF65-F5344CB8AC3E}">
        <p14:creationId xmlns:p14="http://schemas.microsoft.com/office/powerpoint/2010/main" val="2563227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591D2B-BC57-4A00-9DEA-D12BBCCB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收益合理性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AC898-8811-4AF9-9759-3645DAF7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收益来自三台发动机，而不是押中一个热点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ECD80-0FBE-4B74-824D-662C3802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57309-E8F1-4DED-80DE-4ACF30F1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30C36-5B28-493C-AD09-9B2901CF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75D27-A231-4810-9F97-7AC4FD59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F600B-0E1F-4DA1-BC53-656FF3D4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稳定收益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C6011-C86F-4F03-AFED-F4F1E3D4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现金与固收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DAB9F-244B-4E5B-B5D8-9602CA5F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提供流动性、票息和再平衡弹药；降低组合被迫卖出的概率。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93C66-421E-4810-889D-E91DFD9D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3B917-FD92-4375-8772-002511E5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478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C428C-3EEF-4EEA-A1FE-EBF79564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336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核心 Beta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8C1D8-C282-4656-A6C3-2E4FD1B5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48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红利与宽基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34FF1-9A15-4D0C-8FBC-64269EDC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3855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分享企业盈利、股息与市场长期增长，是组合主要的常规权益收益来源。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9940A-70C4-422B-B6CC-B92C5615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80E78A-71EF-4185-8128-0AF6F984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478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7F56D9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7F56D9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C13B91-7BA3-4E3A-9022-E8D29438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336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弹性 Beta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FDFA5F-83A5-40E6-B0C6-693B40F1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7F56D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7F56D9"/>
                </a:solidFill>
                <a:latin typeface="PingFang SC"/>
                <a:ea typeface="PingFang SC"/>
                <a:cs typeface="PingFang SC"/>
              </a:rPr>
              <a:t>科技 ETF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6C4FAA-2EE3-4D57-B193-CAD58F93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在风险偏好修复时提高上涨参与度；仓位受限，避免主题波动主导组合。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32598F-AD7B-4E12-9069-0414DBDB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合理性不在于预测一个年化数字，而在于：上涨时有参与，震荡时有收益来源，下跌时有现金与纪律。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80C6D2-1059-499C-B557-8D8076F7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36994C-E143-436D-998C-EA9DD88E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055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资料来源：100万元多资产组合执行计划（2026-07-20/21）；情景为风险预算假设，不是收益承诺。</a:t>
            </a:r>
          </a:p>
        </p:txBody>
      </p:sp>
    </p:spTree>
    <p:extLst>
      <p:ext uri="{BB962C8B-B14F-4D97-AF65-F5344CB8AC3E}">
        <p14:creationId xmlns:p14="http://schemas.microsoft.com/office/powerpoint/2010/main" val="13797290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737C75-ED55-4569-84F7-C9EC6ACF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风险回撤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FC55E-49A1-47BB-AE3C-622FD0CC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基准压力测试约回撤13.8%，仍低于20%硬约束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9BA8B-ED20-4B60-B8CF-262D8605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45EFB-C31F-4FC2-853C-1BB12D54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6858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8a5ea799464c1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00EB5-8D40-44AB-8D2B-7E083B4B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350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-13.8%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35DD8-1AD4-42A0-A92D-6E424575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基准压力情景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649F5-CF98-4D2C-962A-C898E633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257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EFD2D-D4D1-4075-A38E-F15B2183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科技仓下跌35%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6B85D-4911-4EF0-978E-69317860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676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7A265-FD90-4146-BAA3-78069FCA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81400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其余权益下跌25%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AF27A-BF32-4A16-86C9-75A8F77B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095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BD96C-2379-45B1-B959-BC27FAC8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00500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黄金下跌15%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1FAA16-9677-4271-826D-49C13490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514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D1599-6FF4-400B-B3CA-AA9812AA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19600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固收下跌3%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05BB7A-DD12-4029-93C5-90CEE5C2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43500"/>
            <a:ext cx="30480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7F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9C7B0-7476-4629-9786-7B84305B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距20%上限仍有6.2个百分点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BA09D-0D93-4DDA-9AA4-BB1106DF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35D760-A903-408A-BDB9-0560394A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055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压力测试贡献：资产权重 × 假设跌幅；未计税费、跟踪误差和相关性突变。</a:t>
            </a:r>
          </a:p>
        </p:txBody>
      </p:sp>
    </p:spTree>
    <p:extLst>
      <p:ext uri="{BB962C8B-B14F-4D97-AF65-F5344CB8AC3E}">
        <p14:creationId xmlns:p14="http://schemas.microsoft.com/office/powerpoint/2010/main" val="6890022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2152AF-54E3-42C1-9AD9-A7755869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风险回撤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2C717-3AEE-4B96-AE37-83E5D092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真正的风险是“相关性一起上升”，因此必须动态降仓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AAA02-0C0A-4E14-9E56-26C8D766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25397-26F5-464E-BCB0-0A735B63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9AC7E-B431-4FD4-8381-C6CA2324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315A7-C829-4FC5-BDCB-BE2D1B3D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2192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主要假设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8D528-FF96-4189-925F-31F4F4FA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19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组合结果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6DEC3-BD65-4C5D-BF77-847AC502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192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含义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690CE-4440-40F3-A6FC-4718FA5E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10991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28905-0208-45F0-BC45-1193FF63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温和上涨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FF654-79E6-4495-A0E9-4D9536E5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43075"/>
            <a:ext cx="3762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科技 +25%，其他权益 +15%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0B1BF-F615-429C-A95D-FE721503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430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约 +8.9%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6D4AE-6B88-4446-8C1C-E01F4C51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335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正常参与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27A4A-4A49-4677-9602-2AB622A6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7925"/>
            <a:ext cx="10991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2ABE9-D22F-44FE-AA45-8CB4F344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普通调整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7C3DE7-F8F4-4280-8950-5510C54F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19375"/>
            <a:ext cx="3762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科技 -15%，其他权益 -8%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9CD5D8-4749-41F9-9100-639D271A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约 -3.3%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9BB6EA-1518-4339-BA03-63C17956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继续分批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380B63-67B0-461D-A0C3-D7C09CDB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24225"/>
            <a:ext cx="10991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345E1F-CCEB-484D-BCF6-761B5308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900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79009"/>
                </a:solidFill>
                <a:latin typeface="PingFang SC"/>
                <a:ea typeface="PingFang SC"/>
                <a:cs typeface="PingFang SC"/>
              </a:rPr>
              <a:t>基准压力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B5D8BD-D2DD-4190-9AB1-070530A2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95675"/>
            <a:ext cx="3762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科技 -35%，其他权益 -25%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1FA4F5-807E-4807-BA6E-50CF859F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956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约 -13.8%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63E957-5191-4E4C-9CF1-55768E35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861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触发主动防守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ED3733-B53B-4934-9E91-46C8E447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00525"/>
            <a:ext cx="10991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121CCE-BA81-4A75-9FFE-ADE58B97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极端共振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2CFC17-89D4-49D4-A1E5-EA7F7191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71975"/>
            <a:ext cx="3762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科技 -50%，其他权益 -35%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DD6F66-D998-4AB6-8284-2B5AFE66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719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约 -20.2%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66A8CF-AE6F-4B1C-AB44-F183173A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624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若不降仓将突破上限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63588B-76DA-4411-8FE1-F2FE6225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959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情景不是预测；它的作用是提前规定：如果风险发生，我们要做什么。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266729-EB0A-4046-BF21-3B7F621B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6448FB-C450-4375-9145-489C44A2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055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资料来源：100万元多资产组合执行计划（2026-07-20/21）；情景为风险预算假设，不是收益承诺。</a:t>
            </a:r>
          </a:p>
        </p:txBody>
      </p:sp>
    </p:spTree>
    <p:extLst>
      <p:ext uri="{BB962C8B-B14F-4D97-AF65-F5344CB8AC3E}">
        <p14:creationId xmlns:p14="http://schemas.microsoft.com/office/powerpoint/2010/main" val="5619803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ABD036-BE34-4006-9852-FFD802EE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控制方法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660C4-BD67-4BCD-B107-ED7071E6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风险控制必须早于20%启动：四道阈值逐级降风险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C5237-779E-4A5C-B052-D8856BE7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4303C-7F56-487B-94CD-4E104C54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22A7D-8088-4955-8733-2A559093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33675"/>
            <a:ext cx="967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590D2-F158-49C7-B7E8-832FF602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6222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4D7B8-B797-4B60-8628-CCB2248A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450" b="1">
                <a:solidFill>
                  <a:srgbClr val="F79009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79009"/>
                </a:solidFill>
                <a:latin typeface="PingFang SC"/>
                <a:ea typeface="PingFang SC"/>
                <a:cs typeface="PingFang SC"/>
              </a:rPr>
              <a:t>-6%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36BFB-6B13-446C-8AE3-8B483825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停止加速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E9B2D-D5E0-41F9-BF34-A8626120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20193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停止所有高Beta新增仓位；复核市场广度和两融。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88ADD-A736-4945-BF8C-AAA2EC9C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56222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19EBE-CBE3-4AAE-8A3D-AA9E6F68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71625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450" b="1">
                <a:solidFill>
                  <a:srgbClr val="F79009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79009"/>
                </a:solidFill>
                <a:latin typeface="PingFang SC"/>
                <a:ea typeface="PingFang SC"/>
                <a:cs typeface="PingFang SC"/>
              </a:rPr>
              <a:t>-10%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4C47A-A7E5-4584-9070-AC9BD64F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1242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削减风险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189FC-61B2-4057-8F1C-AE7EC7F1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638550"/>
            <a:ext cx="20193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科技与小盘仓合计减三分之一；不再摊平错误。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377B8-AC2F-4630-8AD6-E777D926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6222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EE800-443D-479E-95DD-2B299843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450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-15%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3116B3-7528-4216-9EA0-03A09260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242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进入防守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324B8-5730-46DC-B657-22682F87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38550"/>
            <a:ext cx="20193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科技降至≤5%，权益总仓降至≤25%。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3B9EB2-9AE7-4713-B689-3A470C39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56222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F9D3CF-7B4E-474C-A74B-48E0551A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571625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450" b="1">
                <a:solidFill>
                  <a:srgbClr val="B42318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B42318"/>
                </a:solidFill>
                <a:latin typeface="PingFang SC"/>
                <a:ea typeface="PingFang SC"/>
                <a:cs typeface="PingFang SC"/>
              </a:rPr>
              <a:t>-18%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BC8B70-8B6D-41D2-802C-A76EBE54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1242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保护本金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FE0431-511D-4AC8-9B75-C858085B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638550"/>
            <a:ext cx="20193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现金优先；不允许等到20%才执行止损。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A1F2B-3D36-4E53-AE96-E6226F91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91150"/>
            <a:ext cx="41910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E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97D8C3-7B51-4E6A-96A7-B77603DE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10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全程禁用融资与杠杆ETF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D72AB9-A83E-4417-BF71-48DB54EC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90550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纪律的目的不是每次都卖在高点，而是防止一次错误摧毁长期复利。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83011D-9BCC-48F1-ABF1-0E82A252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3C81EA-B612-4A9C-BCA3-1FA863E4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055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资料来源：100万元多资产组合执行计划（2026-07-20/21）；情景为风险预算假设，不是收益承诺。</a:t>
            </a:r>
          </a:p>
        </p:txBody>
      </p:sp>
    </p:spTree>
    <p:extLst>
      <p:ext uri="{BB962C8B-B14F-4D97-AF65-F5344CB8AC3E}">
        <p14:creationId xmlns:p14="http://schemas.microsoft.com/office/powerpoint/2010/main" val="11617284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D41E62-B220-45DE-B467-9CFFA53F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执行方法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4A55F-3255-43A1-B9B5-233DF499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建仓顺序：先建立生存能力，再逐步购买增长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5455B-32A1-4D31-AE5E-1F2F117B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04176-8DE1-4801-ACF1-DADD7CD5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09C2D-4E70-4FF8-AC49-E1A8A8AA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C3A7F-DDF5-45E8-9F13-C864A970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5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第一层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现金与货币 20—30万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39F94-E38B-46E7-9730-8A4145D5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2190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7EDDF-7A0E-4B2B-824D-EC0E6791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05250"/>
            <a:ext cx="18478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第二层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短债/国债先建10万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E54D1-CD08-452B-AD41-8D8499AE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52750"/>
            <a:ext cx="2190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7C576-CE7A-491C-B1D8-6D9AEFBB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1847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第三层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黄金、红利分批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86303-AF6A-4724-8DC8-D8FFD1F1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2190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B9B5B-7F67-48A7-9E45-5F8D532E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81250"/>
            <a:ext cx="18478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第四层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宽基完成12万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C19B9-0191-46D9-BEA3-ECD8709E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28750"/>
            <a:ext cx="2095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6ADD9-C88F-44AA-BED8-BBDA7905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19250"/>
            <a:ext cx="17526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第五层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科技分四阶段至15万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AEDE9-980A-4728-A7DD-8FB10B20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当前状态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FF02C-331B-47D4-BE92-0D89F8DC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22860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1636D-7813-431A-8CAD-B61F8A77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沪深300 已执行3万元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CE84E-D7B1-438E-87F8-EE0B6E29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81200"/>
            <a:ext cx="23812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9DA9F4-76E8-4ACE-AEB1-9C825202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7F56D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7F56D9"/>
                </a:solidFill>
                <a:latin typeface="PingFang SC"/>
                <a:ea typeface="PingFang SC"/>
                <a:cs typeface="PingFang SC"/>
              </a:rPr>
              <a:t>科技首阶段授权3万元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3D8ADB-7E2C-4627-95F2-9C5BA2CD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“授权”不等于必须当天买满；未触发的资金继续留在现金模块。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2E8475-E495-4071-8D7D-D840C2D7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6868A3-76AE-404E-A0A5-9BC1A7BB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055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当前状态根据2026-07-21盘中组合更新；成交成本未提供，按模块记账。</a:t>
            </a:r>
          </a:p>
        </p:txBody>
      </p:sp>
    </p:spTree>
    <p:extLst>
      <p:ext uri="{BB962C8B-B14F-4D97-AF65-F5344CB8AC3E}">
        <p14:creationId xmlns:p14="http://schemas.microsoft.com/office/powerpoint/2010/main" val="6437692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7F46D9-67A5-4A1F-B02D-ACBF5285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监控指标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A3753-76EC-4DBE-9F2C-ADD8A97D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风险偏好回来，需要五类证据同时改善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EA6A2-5A7E-458A-B976-1D474BD2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D8630-0D44-422E-AAFC-0D3BB121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A8DBB-E8F6-4897-A85A-6892A6EB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382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指标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B3226-2AB6-494B-9541-F73D6478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382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健康信号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E0664-7591-4FA9-954E-EDFDF28E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382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风险信号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2EB50-3F75-4B00-9D27-65225FDD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28800"/>
            <a:ext cx="1104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EA7C8-654E-4632-8761-EBE93AF9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市场广度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DF98E-B35C-4B58-91C7-059C6E61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5262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上涨/下跌家数 &gt; 1，市场中位数连续转正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E1F685-FF2E-42F2-B4E9-F1451A6B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只涨权重、个股普跌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E8269-2017-424C-9740-EA5FC36C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09850"/>
            <a:ext cx="1104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C7208-151A-4D3D-8FD9-4AC17B45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跌停与波动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0CCD2-D69C-474D-BDF1-B9D078BF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3367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跌停降至100以下，进一步低于50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8ADF60-8D57-4B88-B101-A798CB15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336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重新扩散至200以上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6090A-11A0-4674-A0B3-1F6378F3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90900"/>
            <a:ext cx="1104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F93BA-C323-4DB2-A8CE-63F8CF17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相对强弱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C3C203-830C-412B-86F5-310F5E72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1472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中证1000相对沪深300止跌向上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68EADC-010A-4EA7-9026-A649DDB8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147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高Beta继续显著跑输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8516F1-7D99-4DB1-847C-6B5732EF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71950"/>
            <a:ext cx="1104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A2E61A-371A-44BD-8C28-EB13DD5D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量价结构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F472D6-E618-4EB1-A820-B75D073E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9577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放量上涨，回踩缩量且有承接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23CAA8-D78A-4187-A18C-2F1902E4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957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高开低走、放量滞涨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2274F2-89AD-4E49-93C2-E4FC9FF5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1104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3BE9C5-66FC-486E-8EB8-405016C7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杠杆与事件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66B3C2-FC00-4AED-BA6A-5FD445A7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7682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融资余额企稳；长鑫上市后科技不创新低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91942B-1184-4D6A-8B32-036BCF1C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0768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两融继续下降；7月27日二次踩踏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45051F-F788-4A06-9D76-0F3D8861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至少五项中的三项持续改善，才从“超跌反弹”升级为“风险偏好修复”。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0E49F2-4FC0-4348-9031-C298ABF7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52A0AB-4A96-4E9F-BEF0-81AA0034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055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关键事件：长鑫科技计划于2026年7月27日上市；该日期尚在未来。</a:t>
            </a:r>
          </a:p>
        </p:txBody>
      </p:sp>
    </p:spTree>
    <p:extLst>
      <p:ext uri="{BB962C8B-B14F-4D97-AF65-F5344CB8AC3E}">
        <p14:creationId xmlns:p14="http://schemas.microsoft.com/office/powerpoint/2010/main" val="10834937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A506EE-32F0-485D-88A0-86D60B9E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方案评估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EAB0C-1321-40D4-8092-A5FC9A29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方案的合理性来自四个可验证条件，而不是看起来分散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5715B-2C3E-4E1C-8477-4B70D4A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F2982-1502-4088-9114-AEA4D4C5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E2E7D-4016-4E87-B44B-6C8D6997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5000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99BBF-023B-42AD-A9BA-9E694777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850" b="1">
                <a:solidFill>
                  <a:srgbClr val="1570E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570E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AD944-8686-4CB0-9762-1424763C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8573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风险预算一致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00531-9FB7-461A-A39A-D0EF7D64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362200"/>
            <a:ext cx="3619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权益42%，高波动科技仅15%；与中等风险和20%回撤约束匹配。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44037-BC7C-4E77-BD77-FE882A0A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000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4645A-0069-4261-9D1E-A474A27F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478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850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936F4-C6D7-410B-B29D-C0B24717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573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资金用途清晰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0A863-610D-4C9D-9FF9-B719D1E3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3619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每个模块都有职责；未触发的资金回到现金，而非被迫寻找交易。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CDCDC-1BB5-46A6-869D-D0BB935D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5000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6597C-FF51-4475-9A06-EA42C412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909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850" b="1">
                <a:solidFill>
                  <a:srgbClr val="F79009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79009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9882B-9C4F-4A7F-91F0-64CD6981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0005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存在可执行纪律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C66BDF-85E2-495D-BE00-E551789B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505325"/>
            <a:ext cx="3619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建仓、暂停、减仓和失效条件都有阈值，降低情绪决策。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2B7A2-44CE-44F7-ABA2-A12430BD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5000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82A4F-592B-416B-8F87-12BEC2A7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909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850" b="1">
                <a:solidFill>
                  <a:srgbClr val="7F56D9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7F56D9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8791DC-5E07-440C-A451-B8E5C187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005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保留上涨参与度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FA8452-FBAE-4701-9DE8-FA8B172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05325"/>
            <a:ext cx="3619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宽基和科技保留Beta，同时用红利、黄金、固收降低单一风格依赖。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2F6E6F-DC86-42B2-9214-0FF82395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340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失效条件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2DCD85-0636-4830-A7A4-03D14058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245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跨资产同时暴跌、纪律不执行、科技仓突破上限、使用杠杆——任何一项都会破坏方案。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C919E0-A8D7-4D2C-8722-DC76DDB3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13154D-7B19-4266-A35E-9F5079F2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055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资料来源：100万元多资产组合执行计划（2026-07-20/21）；情景为风险预算假设，不是收益承诺。</a:t>
            </a:r>
          </a:p>
        </p:txBody>
      </p:sp>
    </p:spTree>
    <p:extLst>
      <p:ext uri="{BB962C8B-B14F-4D97-AF65-F5344CB8AC3E}">
        <p14:creationId xmlns:p14="http://schemas.microsoft.com/office/powerpoint/2010/main" val="4019990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7C2B9D-12FA-41A6-8DF5-FBF38C56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现在的正确动作，不是猜底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0DFAF-7470-4DE8-A7FA-2F1F1170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2E90FA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2E90FA"/>
                </a:solidFill>
                <a:latin typeface="PingFang SC"/>
                <a:ea typeface="PingFang SC"/>
                <a:cs typeface="PingFang SC"/>
              </a:rPr>
              <a:t>而是按风险预算执行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48F86-103D-4587-8927-C35853B6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43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B05EB-8199-4488-B3C9-C4253919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2B76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2B76A"/>
                </a:solidFill>
                <a:latin typeface="PingFang SC"/>
                <a:ea typeface="PingFang SC"/>
                <a:cs typeface="PingFang SC"/>
              </a:rPr>
              <a:t>现在可以做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98DD3-5F48-4E9A-BAA3-AFE294E9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48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F6BA6-056C-42B4-B131-D82F9A18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527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保留已买3万元沪深300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4F6D7-60AD-49D9-A6CA-E6BE21B5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57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C1BE2-CF4B-48EB-BBD3-BDB59A2B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现金/货币与短债先落地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48C16-4015-4A3E-BFF3-FDE1B56E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67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EB340-A77D-49B9-BDAE-52EB5FB3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719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科技首阶段最多3万元，分两次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56BBD-89DD-4FC5-B343-FB3055D1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479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0443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04438"/>
                </a:solidFill>
                <a:latin typeface="PingFang SC"/>
                <a:ea typeface="PingFang SC"/>
                <a:cs typeface="PingFang SC"/>
              </a:rPr>
              <a:t>暂时不要做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72053-6E82-4FC8-AD2B-5A15425F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248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39265-9ABA-4E5C-90C3-41C45A75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527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不追涨半导体设备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EEFEA-A46E-48C4-A02B-48F1018C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F3192-31D2-41E2-A1F9-E3C0869D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623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不一次性买满15万元科技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99FBC8-4C6E-434D-B4BD-2724A0E0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467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543579-F522-4E2F-AA29-9D86ED4B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719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不融资、不用杠杆ETF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748BA1-1B72-425F-A83E-E9D94B3D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479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7900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79009"/>
                </a:solidFill>
                <a:latin typeface="PingFang SC"/>
                <a:ea typeface="PingFang SC"/>
                <a:cs typeface="PingFang SC"/>
              </a:rPr>
              <a:t>下一次决策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CFC39D-C845-4FB8-80ED-556F0D3B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248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0D9BA7-EBCF-4494-85A6-BCBE98DD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527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观察2—3日市场广度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1EDE5D-9B52-4DE4-97D5-A0F4259B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857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556A8D-D039-416F-8493-35558296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623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确认融资余额和高Beta企稳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FA3747-EF73-4BE2-B180-F69E720E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467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938DD2-E690-4088-B9D4-A7C958F1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719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7月27日后检验资金分流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942E89-491A-4793-8F2B-774D73CC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9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6A83EA-D06C-4C1A-9243-3D52BF4B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91175"/>
            <a:ext cx="1023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核心原则：收益来自承担风险；长期结果来自控制承担多少风险，以及何时停止。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05FF1F-FCA3-482F-90DE-3D3618DA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本材料用于投资研究与风险管理，不构成收益保证或持牌投资顾问意见。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8488CA-829D-4124-9120-68ACE2B2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2026-07-21</a:t>
            </a:r>
          </a:p>
        </p:txBody>
      </p:sp>
    </p:spTree>
    <p:extLst>
      <p:ext uri="{BB962C8B-B14F-4D97-AF65-F5344CB8AC3E}">
        <p14:creationId xmlns:p14="http://schemas.microsoft.com/office/powerpoint/2010/main" val="1750897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2026-07-21T06:44:03.7850000Z</dcterms:created>
  <dcterms:modified xsi:type="dcterms:W3CDTF">2026-07-21T06:44:03.7850000Z</dcterms:modified>
</coreProperties>
</file>